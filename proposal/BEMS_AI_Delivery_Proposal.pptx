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BEMS AI &amp; INTELLIGENT AUTOMATION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Approach &amp; Technical Roadmap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propose to build, govern and deliver the AI capabilities required under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40.1.3.5 of the MCMC BEMS Technical Tender.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1463040" cy="45720"/>
          </a:xfrm>
          <a:prstGeom prst="rect">
            <a:avLst/>
          </a:prstGeom>
          <a:solidFill>
            <a:srgbClr val="6B7CC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Proposal Review  |  Prepared for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Tender Requirements to a Deliverable Product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tender specifies seven AI capabilities (40.1.3.5a–g) as mandatory or value-added scope. Our approach is to map each requirement to a concrete, demonstrable capability — built on the existing BEMS platform — rather than a generic AI add-on.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06640" y="160020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21031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calculations and compliance rules stay in rules engines and services — never inferred by a model.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06640" y="320040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8096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an interpretation layer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3703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Forecasting, anomaly explanation, recommendations and narrative sit on top of governed data, not in place of it.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06640" y="480060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0" y="4937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 by design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5303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application data and AI inference stay on-premises, per Section 41.2.1 — no external model APIs in the critical path.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Requirements, Seven Delivery Work Packages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1325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325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81812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11064240" cy="0"/>
          </a:xfrm>
          <a:prstGeom prst="line">
            <a:avLst/>
          </a:prstGeom>
          <a:noFill/>
          <a:ln w="12700">
            <a:solidFill>
              <a:srgbClr val="D8DC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764792"/>
            <a:ext cx="13258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Predict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1764792"/>
            <a:ext cx="1188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40.1.3.5a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1764792"/>
            <a:ext cx="4297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&amp; scenario modelling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1764792"/>
            <a:ext cx="3749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ML + explainability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258568"/>
            <a:ext cx="11064240" cy="56692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331720"/>
            <a:ext cx="13258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Detect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2331720"/>
            <a:ext cx="1188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40.1.3.5b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246120" y="2331720"/>
            <a:ext cx="4297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&amp; alerts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818120" y="2331720"/>
            <a:ext cx="3749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models + rules + dashboard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898648"/>
            <a:ext cx="13258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Recommend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2898648"/>
            <a:ext cx="1188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40.1.3.5c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246120" y="2898648"/>
            <a:ext cx="4297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adjustment suggestions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2898648"/>
            <a:ext cx="3749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+ evidence trail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392424"/>
            <a:ext cx="11064240" cy="56692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465576"/>
            <a:ext cx="13258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Converse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965960" y="3465576"/>
            <a:ext cx="1188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40.1.3.5d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246120" y="3465576"/>
            <a:ext cx="4297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assistant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818120" y="3465576"/>
            <a:ext cx="3749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retrieval, role-aware access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032504"/>
            <a:ext cx="13258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Automate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965960" y="4032504"/>
            <a:ext cx="1188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40.1.3.5e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246120" y="4032504"/>
            <a:ext cx="4297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&amp; reporting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818120" y="4032504"/>
            <a:ext cx="3749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pipeline + scheduler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526280"/>
            <a:ext cx="11064240" cy="56692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48640" y="4599432"/>
            <a:ext cx="13258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Govern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965960" y="4599432"/>
            <a:ext cx="1188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40.1.3.5f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246120" y="4599432"/>
            <a:ext cx="4297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Advisor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818120" y="4599432"/>
            <a:ext cx="3749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 + AI explanation layer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166360"/>
            <a:ext cx="13258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Report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1965960" y="5166360"/>
            <a:ext cx="1188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40.1.3.5g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246120" y="5166360"/>
            <a:ext cx="4297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BM/EN reporting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818120" y="5166360"/>
            <a:ext cx="3749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 control + templated generation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Governed AI Layer Over the Existing BEMS Platform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operates as a service layer over BEMS data and APIs — it never bypasses the deterministic rules, workflow and approval logic that already governs financial control.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80160" y="2331720"/>
            <a:ext cx="9601200" cy="713232"/>
          </a:xfrm>
          <a:prstGeom prst="roundRect">
            <a:avLst>
              <a:gd name="adj" fmla="val 7692"/>
            </a:avLst>
          </a:prstGeom>
          <a:solidFill>
            <a:srgbClr val="273080"/>
          </a:solidFill>
          <a:ln w="12700">
            <a:solidFill>
              <a:srgbClr val="42509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54480" y="242316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BEMS UI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2423160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portal / dashboards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3017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80160" y="3191256"/>
            <a:ext cx="9601200" cy="713232"/>
          </a:xfrm>
          <a:prstGeom prst="roundRect">
            <a:avLst>
              <a:gd name="adj" fmla="val 7692"/>
            </a:avLst>
          </a:prstGeom>
          <a:solidFill>
            <a:srgbClr val="273080"/>
          </a:solidFill>
          <a:ln w="12700">
            <a:solidFill>
              <a:srgbClr val="42509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54480" y="328269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BEMS Services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3282696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Spring Boot REST APIs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38770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80160" y="4050792"/>
            <a:ext cx="9601200" cy="713232"/>
          </a:xfrm>
          <a:prstGeom prst="roundRect">
            <a:avLst>
              <a:gd name="adj" fmla="val 7692"/>
            </a:avLst>
          </a:prstGeom>
          <a:solidFill>
            <a:srgbClr val="2D3A8C"/>
          </a:solidFill>
          <a:ln w="12700">
            <a:solidFill>
              <a:srgbClr val="42509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54480" y="414223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4142232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· anomaly · recommendations · NLP · compliance advisor · bilingual reports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280160" y="4910328"/>
            <a:ext cx="9601200" cy="713232"/>
          </a:xfrm>
          <a:prstGeom prst="roundRect">
            <a:avLst>
              <a:gd name="adj" fmla="val 7692"/>
            </a:avLst>
          </a:prstGeom>
          <a:solidFill>
            <a:srgbClr val="273080"/>
          </a:solidFill>
          <a:ln w="12700">
            <a:solidFill>
              <a:srgbClr val="42509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554480" y="500176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Workflow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5001768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 · compliance rules · approvals · event-driven automation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55961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280160" y="5769864"/>
            <a:ext cx="9601200" cy="713232"/>
          </a:xfrm>
          <a:prstGeom prst="roundRect">
            <a:avLst>
              <a:gd name="adj" fmla="val 7692"/>
            </a:avLst>
          </a:prstGeom>
          <a:solidFill>
            <a:srgbClr val="273080"/>
          </a:solidFill>
          <a:ln w="12700">
            <a:solidFill>
              <a:srgbClr val="42509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554480" y="586130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(on-prem)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5861304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· Actual · PR/PO · HR · COA · historical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CONSTRAINT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On-Premises AI: No External Model APIs in Scope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41.2.1 requires application data to remain on-premises. This shapes our model-hosting decision from the outset — not as an afterthought.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open-weight model (e.g. Llama 3.3 / Qwen2.5) served via vLLM or TGI on internal GPU infrastructure. No data leaves the network.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37744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layer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10896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or an internal vector store indexing governed BEMS data only, with role-aware filtering before anything reaches the model.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237744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2104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310896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Forecasting, anomaly detection and compliance rules run as conventional ML/rules services — no LLM dependency, no external call, full determinism.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PATTERN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Decide. AI Explains. A Human Approves.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three-stage pattern applies across anomaly detection, compliance advisory and recommendations — it is the core mechanism that keeps AI output auditable and safe to act 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56616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468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Engine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033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budget data against MCMC compliance rules, LOA thresholds and approval requirements. Produces a factual result — pass, fail, or flag.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2468880"/>
            <a:ext cx="356616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43400" y="2468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3246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Explanation Layer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37033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rule result into plain-language explanation and prioritisation: what triggered, why it matters, what evidence supports 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2468880"/>
            <a:ext cx="356616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38160" y="2468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3246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Approver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37033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final decision wherever policy or authority requires it. AI output is advisory — it never executes a financial action on its own.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Delivery, Not a Big-Bang Release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737360" cy="960120"/>
          </a:xfrm>
          <a:prstGeom prst="roundRect">
            <a:avLst>
              <a:gd name="adj" fmla="val 5714"/>
            </a:avLst>
          </a:prstGeom>
          <a:solidFill>
            <a:srgbClr val="2D3A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500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2075688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model hosting · data pipeline (Kafka) · rules engine for compliance · audit logging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1737360" cy="960120"/>
          </a:xfrm>
          <a:prstGeom prst="roundRect">
            <a:avLst>
              <a:gd name="adj" fmla="val 5714"/>
            </a:avLst>
          </a:prstGeom>
          <a:solidFill>
            <a:srgbClr val="2D3A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154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4472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Capabilities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3172968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· anomaly detection · automation of consolidation &amp; reporting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1737360" cy="960120"/>
          </a:xfrm>
          <a:prstGeom prst="roundRect">
            <a:avLst>
              <a:gd name="adj" fmla="val 5714"/>
            </a:avLst>
          </a:prstGeom>
          <a:solidFill>
            <a:srgbClr val="2D3A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251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5445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Intelligence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4270248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Advisor · recommendation engine · evidence trail on every suggestion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1737360" cy="960120"/>
          </a:xfrm>
          <a:prstGeom prst="roundRect">
            <a:avLst>
              <a:gd name="adj" fmla="val 5714"/>
            </a:avLst>
          </a:prstGeom>
          <a:solidFill>
            <a:srgbClr val="2D3A8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349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6418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&amp; Bilingual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606040" y="5367528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assistant with role-aware retrieval · BM/EN report generation · terminology controls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Stack We Already Operate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Spring Boot backend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existing BEMS services layer — no platform migration risk.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4688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Keycloak-secured APIs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24688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access control, already proven on our current delivery stack.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246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Audited, event-driven pipelines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32461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full audit trail pattern we run in production today.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069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023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 bench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40233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Pentaho/Elastic experience covers the BI and reporting layer directly.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the Phased Approach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Begin Foundation Work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97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BEMS platform. Measurable AI capabilities. Governed implementation. Auditable results.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892040"/>
            <a:ext cx="1463040" cy="45720"/>
          </a:xfrm>
          <a:prstGeom prst="rect">
            <a:avLst/>
          </a:prstGeom>
          <a:solidFill>
            <a:srgbClr val="6B7CC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2026-09-01T08:41:46Z</dcterms:created>
  <dcterms:modified xsi:type="dcterms:W3CDTF">2026-09-01T08:41:46Z</dcterms:modified>
</cp:coreProperties>
</file>