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1043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BEMS Agent is a single conversational entry point. It answers general questions from the company knowledge base (RAG), reads exact live data through tools (balance, transactions, budgets, assets, CRM), and opens structured forms (bottom sheets) that it pre-fills from the chat. Every screenshot in this deck is from the real running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 knowledge and lookups, mint = exact data from the budget service, amber = structured human-in-the-loop forms.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reasoning and execution: the LLM only chooses a tool and proposes arguments. Python code validates the arguments, performs the call, and all write paths pause on a LangGraph interrupt until the user confirms in the UI.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shown: 'What open-source products does RBTSB carry, and what are its core services?' The answer lists Pentaho, Elastic, EnterpriseDB and MariaDB — all taken from knowledge_base.md chunks retrieved from Milvus.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my balance?' → get_balance. 'show my last 6 transactions' → list_transactions. The Markdown table is built server-side and the model is instructed to relay it verbatim.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tables come from the Budget API (PostgreSQL). Assets were added in this iteration: new asset table, POST/GET endpoints, idempotent creation.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calls open_entry_form(entry_type=ASSET, prefill={...}). Prefill values are whitelisted and coerced; unknown keys are dropped. Nothing is saved until the user presses Save, and the server validates every field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the same entry_form node with a different field set. Currency and category chips plus free-text 'Other' for anything not on the list.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make: the confirm sheet protects against destructive writes, but confidentiality is lost at read time. That is why the budget features use dedicated API tools instead of SQL (next slide). The raw SQL tool is only acceptable against a local dev database.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replace query_crm_database with purpose-built CRM tools (e.g. count_customers_by_segment, get_customer_summary) that expose only aggregated or explicitly allowed fields, scoped per tenant and per user. Honest caveat: API tools don't make leakage impossible. Whatever an API returns can still be shown to the user, so each API's response must be designed with least privilege. But the exposure becomes bounded, reviewable and auditable instead of 'the whole database'.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Shown: BEMS_Predictive_Analytics_and_Forecasting_Requirements.docx uploaded, then 'Summarize the key forecasting requirements in this document in 4 short bullets.'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query_crm_database, get_balance, list_transactions, list_budgets, list_assets, open_entry_form (6), plus RAG retrieval on every turn. Field types: choice, date, text, number, confirm.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30"/>
        </a:solidFill>
        <a:effectLst/>
      </p:bgPr>
    </p:bg>
    <p:spTree>
      <p:nvGrpSpPr>
        <p:cNvPr id="1" name=""/>
        <p:cNvGrpSpPr/>
        <p:nvPr/>
      </p:nvGrpSpPr>
      <p:grpSpPr>
        <a:xfrm>
          <a:off x="0" y="0"/>
          <a:ext cx="0" cy="0"/>
          <a:chOff x="0" y="0"/>
          <a:chExt cx="0" cy="0"/>
        </a:xfrm>
      </p:grpSpPr>
      <p:sp>
        <p:nvSpPr>
          <p:cNvPr id="2" name="Shape 0"/>
          <p:cNvSpPr/>
          <p:nvPr/>
        </p:nvSpPr>
        <p:spPr>
          <a:xfrm>
            <a:off x="7498080" y="-1463040"/>
            <a:ext cx="6858000" cy="6858000"/>
          </a:xfrm>
          <a:prstGeom prst="ellipse">
            <a:avLst/>
          </a:prstGeom>
          <a:solidFill>
            <a:srgbClr val="1A2550"/>
          </a:solidFill>
          <a:ln w="12700">
            <a:solidFill>
              <a:srgbClr val="1A2550"/>
            </a:solidFill>
            <a:prstDash val="solid"/>
          </a:ln>
        </p:spPr>
        <p:txBody>
          <a:bodyPr/>
          <a:lstStyle/>
          <a:p>
            <a:endParaRPr lang="en-MY"/>
          </a:p>
        </p:txBody>
      </p:sp>
      <p:sp>
        <p:nvSpPr>
          <p:cNvPr id="3" name="Shape 1"/>
          <p:cNvSpPr/>
          <p:nvPr/>
        </p:nvSpPr>
        <p:spPr>
          <a:xfrm>
            <a:off x="9692640" y="4206240"/>
            <a:ext cx="3657600" cy="3657600"/>
          </a:xfrm>
          <a:prstGeom prst="ellipse">
            <a:avLst/>
          </a:prstGeom>
          <a:solidFill>
            <a:srgbClr val="13245E"/>
          </a:solidFill>
          <a:ln w="12700">
            <a:solidFill>
              <a:srgbClr val="13245E"/>
            </a:solidFill>
            <a:prstDash val="solid"/>
          </a:ln>
        </p:spPr>
        <p:txBody>
          <a:bodyPr/>
          <a:lstStyle/>
          <a:p>
            <a:endParaRPr lang="en-MY"/>
          </a:p>
        </p:txBody>
      </p:sp>
      <p:sp>
        <p:nvSpPr>
          <p:cNvPr id="4" name="Text 2"/>
          <p:cNvSpPr txBox="1"/>
          <p:nvPr/>
        </p:nvSpPr>
        <p:spPr>
          <a:xfrm>
            <a:off x="640080" y="1371600"/>
            <a:ext cx="6400800" cy="100584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BEMS Agent</a:t>
            </a:r>
            <a:endParaRPr lang="en-US" sz="6000" dirty="0"/>
          </a:p>
        </p:txBody>
      </p:sp>
      <p:sp>
        <p:nvSpPr>
          <p:cNvPr id="5" name="Text 3"/>
          <p:cNvSpPr txBox="1"/>
          <p:nvPr/>
        </p:nvSpPr>
        <p:spPr>
          <a:xfrm>
            <a:off x="640080" y="2423160"/>
            <a:ext cx="6035040" cy="1005840"/>
          </a:xfrm>
          <a:prstGeom prst="rect">
            <a:avLst/>
          </a:prstGeom>
          <a:noFill/>
          <a:ln/>
        </p:spPr>
        <p:txBody>
          <a:bodyPr wrap="square" lIns="0" tIns="0" rIns="0" bIns="0" rtlCol="0" anchor="ctr"/>
          <a:lstStyle/>
          <a:p>
            <a:pPr marL="0" indent="0">
              <a:buNone/>
            </a:pPr>
            <a:r>
              <a:rPr lang="en-US" sz="2400" dirty="0">
                <a:solidFill>
                  <a:srgbClr val="B8C4E6"/>
                </a:solidFill>
                <a:latin typeface="Calibri" pitchFamily="34" charset="0"/>
                <a:ea typeface="Calibri" pitchFamily="34" charset="-122"/>
                <a:cs typeface="Calibri" pitchFamily="34" charset="-120"/>
              </a:rPr>
              <a:t>One chat for company knowledge, your money and real actions</a:t>
            </a:r>
            <a:endParaRPr lang="en-US" sz="2400" dirty="0"/>
          </a:p>
        </p:txBody>
      </p:sp>
      <p:sp>
        <p:nvSpPr>
          <p:cNvPr id="6" name="Shape 4"/>
          <p:cNvSpPr/>
          <p:nvPr/>
        </p:nvSpPr>
        <p:spPr>
          <a:xfrm>
            <a:off x="640080" y="3840480"/>
            <a:ext cx="2377440" cy="347472"/>
          </a:xfrm>
          <a:prstGeom prst="roundRect">
            <a:avLst>
              <a:gd name="adj" fmla="val 50000"/>
            </a:avLst>
          </a:prstGeom>
          <a:solidFill>
            <a:srgbClr val="0B5FFF"/>
          </a:solidFill>
          <a:ln w="12700">
            <a:solidFill>
              <a:srgbClr val="0B5FFF"/>
            </a:solidFill>
            <a:prstDash val="solid"/>
          </a:ln>
        </p:spPr>
        <p:txBody>
          <a:bodyPr/>
          <a:lstStyle/>
          <a:p>
            <a:endParaRPr lang="en-MY"/>
          </a:p>
        </p:txBody>
      </p:sp>
      <p:sp>
        <p:nvSpPr>
          <p:cNvPr id="7" name="Text 5"/>
          <p:cNvSpPr txBox="1"/>
          <p:nvPr/>
        </p:nvSpPr>
        <p:spPr>
          <a:xfrm>
            <a:off x="640080" y="3840480"/>
            <a:ext cx="23774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RAG  ·  Semantic search</a:t>
            </a:r>
            <a:endParaRPr lang="en-US" sz="1200" dirty="0"/>
          </a:p>
        </p:txBody>
      </p:sp>
      <p:sp>
        <p:nvSpPr>
          <p:cNvPr id="8" name="Shape 6"/>
          <p:cNvSpPr/>
          <p:nvPr/>
        </p:nvSpPr>
        <p:spPr>
          <a:xfrm>
            <a:off x="3154680" y="3840480"/>
            <a:ext cx="1737360" cy="347472"/>
          </a:xfrm>
          <a:prstGeom prst="roundRect">
            <a:avLst>
              <a:gd name="adj" fmla="val 50000"/>
            </a:avLst>
          </a:prstGeom>
          <a:solidFill>
            <a:srgbClr val="14B8A6"/>
          </a:solidFill>
          <a:ln w="12700">
            <a:solidFill>
              <a:srgbClr val="14B8A6"/>
            </a:solidFill>
            <a:prstDash val="solid"/>
          </a:ln>
        </p:spPr>
        <p:txBody>
          <a:bodyPr/>
          <a:lstStyle/>
          <a:p>
            <a:endParaRPr lang="en-MY"/>
          </a:p>
        </p:txBody>
      </p:sp>
      <p:sp>
        <p:nvSpPr>
          <p:cNvPr id="9" name="Text 7"/>
          <p:cNvSpPr txBox="1"/>
          <p:nvPr/>
        </p:nvSpPr>
        <p:spPr>
          <a:xfrm>
            <a:off x="3154680" y="3840480"/>
            <a:ext cx="1737360" cy="347472"/>
          </a:xfrm>
          <a:prstGeom prst="rect">
            <a:avLst/>
          </a:prstGeom>
          <a:noFill/>
          <a:ln/>
        </p:spPr>
        <p:txBody>
          <a:bodyPr wrap="square" lIns="0" tIns="0" rIns="0" bIns="0" rtlCol="0" anchor="ctr"/>
          <a:lstStyle/>
          <a:p>
            <a:pPr marL="0" indent="0" algn="ctr">
              <a:buNone/>
            </a:pPr>
            <a:r>
              <a:rPr lang="en-US" sz="1200" b="1" dirty="0">
                <a:solidFill>
                  <a:srgbClr val="0E1630"/>
                </a:solidFill>
                <a:latin typeface="Calibri" pitchFamily="34" charset="0"/>
                <a:ea typeface="Calibri" pitchFamily="34" charset="-122"/>
                <a:cs typeface="Calibri" pitchFamily="34" charset="-120"/>
              </a:rPr>
              <a:t>Live data tools</a:t>
            </a:r>
            <a:endParaRPr lang="en-US" sz="1200" dirty="0"/>
          </a:p>
        </p:txBody>
      </p:sp>
      <p:sp>
        <p:nvSpPr>
          <p:cNvPr id="10" name="Shape 8"/>
          <p:cNvSpPr/>
          <p:nvPr/>
        </p:nvSpPr>
        <p:spPr>
          <a:xfrm>
            <a:off x="5029200" y="3840480"/>
            <a:ext cx="1920240" cy="347472"/>
          </a:xfrm>
          <a:prstGeom prst="roundRect">
            <a:avLst>
              <a:gd name="adj" fmla="val 50000"/>
            </a:avLst>
          </a:prstGeom>
          <a:solidFill>
            <a:srgbClr val="F59E0B"/>
          </a:solidFill>
          <a:ln w="12700">
            <a:solidFill>
              <a:srgbClr val="F59E0B"/>
            </a:solidFill>
            <a:prstDash val="solid"/>
          </a:ln>
        </p:spPr>
        <p:txBody>
          <a:bodyPr/>
          <a:lstStyle/>
          <a:p>
            <a:endParaRPr lang="en-MY"/>
          </a:p>
        </p:txBody>
      </p:sp>
      <p:sp>
        <p:nvSpPr>
          <p:cNvPr id="11" name="Text 9"/>
          <p:cNvSpPr txBox="1"/>
          <p:nvPr/>
        </p:nvSpPr>
        <p:spPr>
          <a:xfrm>
            <a:off x="5029200" y="3840480"/>
            <a:ext cx="1920240" cy="347472"/>
          </a:xfrm>
          <a:prstGeom prst="rect">
            <a:avLst/>
          </a:prstGeom>
          <a:noFill/>
          <a:ln/>
        </p:spPr>
        <p:txBody>
          <a:bodyPr wrap="square" lIns="0" tIns="0" rIns="0" bIns="0" rtlCol="0" anchor="ctr"/>
          <a:lstStyle/>
          <a:p>
            <a:pPr marL="0" indent="0" algn="ctr">
              <a:buNone/>
            </a:pPr>
            <a:r>
              <a:rPr lang="en-US" sz="1200" b="1" dirty="0">
                <a:solidFill>
                  <a:srgbClr val="0E1630"/>
                </a:solidFill>
                <a:latin typeface="Calibri" pitchFamily="34" charset="0"/>
                <a:ea typeface="Calibri" pitchFamily="34" charset="-122"/>
                <a:cs typeface="Calibri" pitchFamily="34" charset="-120"/>
              </a:rPr>
              <a:t>Chat-driven forms</a:t>
            </a:r>
            <a:endParaRPr lang="en-US" sz="1200" dirty="0"/>
          </a:p>
        </p:txBody>
      </p:sp>
      <p:sp>
        <p:nvSpPr>
          <p:cNvPr id="12" name="Text 10"/>
          <p:cNvSpPr txBox="1"/>
          <p:nvPr/>
        </p:nvSpPr>
        <p:spPr>
          <a:xfrm>
            <a:off x="640080" y="6035040"/>
            <a:ext cx="6400800" cy="365760"/>
          </a:xfrm>
          <a:prstGeom prst="rect">
            <a:avLst/>
          </a:prstGeom>
          <a:noFill/>
          <a:ln/>
        </p:spPr>
        <p:txBody>
          <a:bodyPr wrap="square" lIns="0" tIns="0" rIns="0" bIns="0" rtlCol="0" anchor="ctr"/>
          <a:lstStyle/>
          <a:p>
            <a:pPr marL="0" indent="0">
              <a:buNone/>
            </a:pPr>
            <a:r>
              <a:rPr lang="en-US" sz="1200" dirty="0">
                <a:solidFill>
                  <a:srgbClr val="7F8BB0"/>
                </a:solidFill>
                <a:latin typeface="Calibri" pitchFamily="34" charset="0"/>
                <a:ea typeface="Calibri" pitchFamily="34" charset="-122"/>
                <a:cs typeface="Calibri" pitchFamily="34" charset="-120"/>
              </a:rPr>
              <a:t>Capability overview  ·  all screenshots taken from the running app</a:t>
            </a:r>
            <a:endParaRPr lang="en-US" sz="1200" dirty="0"/>
          </a:p>
        </p:txBody>
      </p:sp>
      <p:sp>
        <p:nvSpPr>
          <p:cNvPr id="13" name="Shape 11"/>
          <p:cNvSpPr/>
          <p:nvPr/>
        </p:nvSpPr>
        <p:spPr>
          <a:xfrm>
            <a:off x="8805163" y="502920"/>
            <a:ext cx="2415034" cy="5852160"/>
          </a:xfrm>
          <a:prstGeom prst="roundRect">
            <a:avLst>
              <a:gd name="adj" fmla="val 4544"/>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14" name="Image 0" descr="C:\Users\HP\AppData\Local\Temp\claude\C--Projects-tunoo-crm-management\72c328e9-b7b3-480f-b6b2-1d6a61924830\scratchpad\deck\crops\sheet_phone.png"/>
          <p:cNvPicPr>
            <a:picLocks noChangeAspect="1"/>
          </p:cNvPicPr>
          <p:nvPr/>
        </p:nvPicPr>
        <p:blipFill>
          <a:blip r:embed="rId3"/>
          <a:stretch>
            <a:fillRect/>
          </a:stretch>
        </p:blipFill>
        <p:spPr>
          <a:xfrm>
            <a:off x="8878315" y="576072"/>
            <a:ext cx="2268730" cy="5705856"/>
          </a:xfrm>
          <a:prstGeom prst="rect">
            <a:avLst/>
          </a:prstGeom>
        </p:spPr>
      </p:pic>
      <p:sp>
        <p:nvSpPr>
          <p:cNvPr id="15" name="Shape 12"/>
          <p:cNvSpPr/>
          <p:nvPr/>
        </p:nvSpPr>
        <p:spPr>
          <a:xfrm>
            <a:off x="6163513" y="4480560"/>
            <a:ext cx="2394814" cy="2011680"/>
          </a:xfrm>
          <a:prstGeom prst="roundRect">
            <a:avLst>
              <a:gd name="adj" fmla="val 5455"/>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16" name="Image 1" descr="C:\Users\HP\AppData\Local\Temp\claude\C--Projects-tunoo-crm-management\72c328e9-b7b3-480f-b6b2-1d6a61924830\scratchpad\deck\crops\rag.png"/>
          <p:cNvPicPr>
            <a:picLocks noChangeAspect="1"/>
          </p:cNvPicPr>
          <p:nvPr/>
        </p:nvPicPr>
        <p:blipFill>
          <a:blip r:embed="rId4"/>
          <a:stretch>
            <a:fillRect/>
          </a:stretch>
        </p:blipFill>
        <p:spPr>
          <a:xfrm>
            <a:off x="6236665" y="4553712"/>
            <a:ext cx="2248510" cy="18653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What the agent can do</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Six capability areas behind one chat box</a:t>
            </a:r>
            <a:endParaRPr lang="en-US" sz="1600" dirty="0"/>
          </a:p>
        </p:txBody>
      </p:sp>
      <p:sp>
        <p:nvSpPr>
          <p:cNvPr id="4" name="Shape 2"/>
          <p:cNvSpPr/>
          <p:nvPr/>
        </p:nvSpPr>
        <p:spPr>
          <a:xfrm>
            <a:off x="548640" y="1737360"/>
            <a:ext cx="3520440" cy="2148840"/>
          </a:xfrm>
          <a:prstGeom prst="roundRect">
            <a:avLst>
              <a:gd name="adj" fmla="val 5957"/>
            </a:avLst>
          </a:prstGeom>
          <a:solidFill>
            <a:srgbClr val="F4F6FA"/>
          </a:solidFill>
          <a:ln w="9525">
            <a:solidFill>
              <a:srgbClr val="E3E7F0"/>
            </a:solidFill>
            <a:prstDash val="solid"/>
          </a:ln>
        </p:spPr>
        <p:txBody>
          <a:bodyPr/>
          <a:lstStyle/>
          <a:p>
            <a:endParaRPr lang="en-MY"/>
          </a:p>
        </p:txBody>
      </p:sp>
      <p:sp>
        <p:nvSpPr>
          <p:cNvPr id="5" name="Shape 3"/>
          <p:cNvSpPr/>
          <p:nvPr/>
        </p:nvSpPr>
        <p:spPr>
          <a:xfrm>
            <a:off x="777240" y="1965960"/>
            <a:ext cx="566928" cy="566928"/>
          </a:xfrm>
          <a:prstGeom prst="ellipse">
            <a:avLst/>
          </a:prstGeom>
          <a:solidFill>
            <a:srgbClr val="0B5FFF"/>
          </a:solidFill>
          <a:ln w="12700">
            <a:solidFill>
              <a:srgbClr val="0B5FFF"/>
            </a:solidFill>
            <a:prstDash val="solid"/>
          </a:ln>
        </p:spPr>
        <p:txBody>
          <a:bodyPr/>
          <a:lstStyle/>
          <a:p>
            <a:endParaRPr lang="en-MY"/>
          </a:p>
        </p:txBody>
      </p:sp>
      <p:pic>
        <p:nvPicPr>
          <p:cNvPr id="6" name="Image 0" descr="preencoded.png"/>
          <p:cNvPicPr>
            <a:picLocks noChangeAspect="1"/>
          </p:cNvPicPr>
          <p:nvPr/>
        </p:nvPicPr>
        <p:blipFill>
          <a:blip r:embed="rId3"/>
          <a:stretch>
            <a:fillRect/>
          </a:stretch>
        </p:blipFill>
        <p:spPr>
          <a:xfrm>
            <a:off x="924641" y="2113361"/>
            <a:ext cx="272125" cy="272125"/>
          </a:xfrm>
          <a:prstGeom prst="rect">
            <a:avLst/>
          </a:prstGeom>
        </p:spPr>
      </p:pic>
      <p:sp>
        <p:nvSpPr>
          <p:cNvPr id="7" name="Text 4"/>
          <p:cNvSpPr txBox="1"/>
          <p:nvPr/>
        </p:nvSpPr>
        <p:spPr>
          <a:xfrm>
            <a:off x="777240" y="2651760"/>
            <a:ext cx="3063240" cy="411480"/>
          </a:xfrm>
          <a:prstGeom prst="rect">
            <a:avLst/>
          </a:prstGeom>
          <a:noFill/>
          <a:ln/>
        </p:spPr>
        <p:txBody>
          <a:bodyPr wrap="square" lIns="0" tIns="0" rIns="0" bIns="0" rtlCol="0" anchor="ctr"/>
          <a:lstStyle/>
          <a:p>
            <a:pPr marL="0" indent="0">
              <a:buNone/>
            </a:pPr>
            <a:r>
              <a:rPr lang="en-US" sz="1600" b="1" dirty="0">
                <a:solidFill>
                  <a:srgbClr val="0E1630"/>
                </a:solidFill>
                <a:latin typeface="Calibri" pitchFamily="34" charset="0"/>
                <a:ea typeface="Calibri" pitchFamily="34" charset="-122"/>
                <a:cs typeface="Calibri" pitchFamily="34" charset="-120"/>
              </a:rPr>
              <a:t>Semantic search (RAG)</a:t>
            </a:r>
            <a:endParaRPr lang="en-US" sz="1600" dirty="0"/>
          </a:p>
        </p:txBody>
      </p:sp>
      <p:sp>
        <p:nvSpPr>
          <p:cNvPr id="8" name="Text 5"/>
          <p:cNvSpPr txBox="1"/>
          <p:nvPr/>
        </p:nvSpPr>
        <p:spPr>
          <a:xfrm>
            <a:off x="777240" y="3063240"/>
            <a:ext cx="3063240" cy="73152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Answers company questions from the knowledge base via vector search</a:t>
            </a:r>
            <a:endParaRPr lang="en-US" sz="1250" dirty="0"/>
          </a:p>
        </p:txBody>
      </p:sp>
      <p:sp>
        <p:nvSpPr>
          <p:cNvPr id="9" name="Shape 6"/>
          <p:cNvSpPr/>
          <p:nvPr/>
        </p:nvSpPr>
        <p:spPr>
          <a:xfrm>
            <a:off x="4325112" y="1737360"/>
            <a:ext cx="3520440" cy="2148840"/>
          </a:xfrm>
          <a:prstGeom prst="roundRect">
            <a:avLst>
              <a:gd name="adj" fmla="val 5957"/>
            </a:avLst>
          </a:prstGeom>
          <a:solidFill>
            <a:srgbClr val="F4F6FA"/>
          </a:solidFill>
          <a:ln w="9525">
            <a:solidFill>
              <a:srgbClr val="E3E7F0"/>
            </a:solidFill>
            <a:prstDash val="solid"/>
          </a:ln>
        </p:spPr>
        <p:txBody>
          <a:bodyPr/>
          <a:lstStyle/>
          <a:p>
            <a:endParaRPr lang="en-MY"/>
          </a:p>
        </p:txBody>
      </p:sp>
      <p:sp>
        <p:nvSpPr>
          <p:cNvPr id="10" name="Shape 7"/>
          <p:cNvSpPr/>
          <p:nvPr/>
        </p:nvSpPr>
        <p:spPr>
          <a:xfrm>
            <a:off x="4553712" y="1965960"/>
            <a:ext cx="566928" cy="566928"/>
          </a:xfrm>
          <a:prstGeom prst="ellipse">
            <a:avLst/>
          </a:prstGeom>
          <a:solidFill>
            <a:srgbClr val="14B8A6"/>
          </a:solidFill>
          <a:ln w="12700">
            <a:solidFill>
              <a:srgbClr val="14B8A6"/>
            </a:solidFill>
            <a:prstDash val="solid"/>
          </a:ln>
        </p:spPr>
        <p:txBody>
          <a:bodyPr/>
          <a:lstStyle/>
          <a:p>
            <a:endParaRPr lang="en-MY"/>
          </a:p>
        </p:txBody>
      </p:sp>
      <p:pic>
        <p:nvPicPr>
          <p:cNvPr id="11" name="Image 1" descr="preencoded.png"/>
          <p:cNvPicPr>
            <a:picLocks noChangeAspect="1"/>
          </p:cNvPicPr>
          <p:nvPr/>
        </p:nvPicPr>
        <p:blipFill>
          <a:blip r:embed="rId4"/>
          <a:stretch>
            <a:fillRect/>
          </a:stretch>
        </p:blipFill>
        <p:spPr>
          <a:xfrm>
            <a:off x="4701113" y="2113361"/>
            <a:ext cx="272125" cy="272125"/>
          </a:xfrm>
          <a:prstGeom prst="rect">
            <a:avLst/>
          </a:prstGeom>
        </p:spPr>
      </p:pic>
      <p:sp>
        <p:nvSpPr>
          <p:cNvPr id="12" name="Text 8"/>
          <p:cNvSpPr txBox="1"/>
          <p:nvPr/>
        </p:nvSpPr>
        <p:spPr>
          <a:xfrm>
            <a:off x="4553712" y="2651760"/>
            <a:ext cx="3063240" cy="411480"/>
          </a:xfrm>
          <a:prstGeom prst="rect">
            <a:avLst/>
          </a:prstGeom>
          <a:noFill/>
          <a:ln/>
        </p:spPr>
        <p:txBody>
          <a:bodyPr wrap="square" lIns="0" tIns="0" rIns="0" bIns="0" rtlCol="0" anchor="ctr"/>
          <a:lstStyle/>
          <a:p>
            <a:pPr marL="0" indent="0">
              <a:buNone/>
            </a:pPr>
            <a:r>
              <a:rPr lang="en-US" sz="1600" b="1" dirty="0">
                <a:solidFill>
                  <a:srgbClr val="0E1630"/>
                </a:solidFill>
                <a:latin typeface="Calibri" pitchFamily="34" charset="0"/>
                <a:ea typeface="Calibri" pitchFamily="34" charset="-122"/>
                <a:cs typeface="Calibri" pitchFamily="34" charset="-120"/>
              </a:rPr>
              <a:t>Exact balance</a:t>
            </a:r>
            <a:endParaRPr lang="en-US" sz="1600" dirty="0"/>
          </a:p>
        </p:txBody>
      </p:sp>
      <p:sp>
        <p:nvSpPr>
          <p:cNvPr id="13" name="Text 9"/>
          <p:cNvSpPr txBox="1"/>
          <p:nvPr/>
        </p:nvSpPr>
        <p:spPr>
          <a:xfrm>
            <a:off x="4553712" y="3063240"/>
            <a:ext cx="3063240" cy="73152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"What's my balance?" is read live from the budget service</a:t>
            </a:r>
            <a:endParaRPr lang="en-US" sz="1250" dirty="0"/>
          </a:p>
        </p:txBody>
      </p:sp>
      <p:sp>
        <p:nvSpPr>
          <p:cNvPr id="14" name="Shape 10"/>
          <p:cNvSpPr/>
          <p:nvPr/>
        </p:nvSpPr>
        <p:spPr>
          <a:xfrm>
            <a:off x="8101584" y="1737360"/>
            <a:ext cx="3520440" cy="2148840"/>
          </a:xfrm>
          <a:prstGeom prst="roundRect">
            <a:avLst>
              <a:gd name="adj" fmla="val 5957"/>
            </a:avLst>
          </a:prstGeom>
          <a:solidFill>
            <a:srgbClr val="F4F6FA"/>
          </a:solidFill>
          <a:ln w="9525">
            <a:solidFill>
              <a:srgbClr val="E3E7F0"/>
            </a:solidFill>
            <a:prstDash val="solid"/>
          </a:ln>
        </p:spPr>
        <p:txBody>
          <a:bodyPr/>
          <a:lstStyle/>
          <a:p>
            <a:endParaRPr lang="en-MY"/>
          </a:p>
        </p:txBody>
      </p:sp>
      <p:sp>
        <p:nvSpPr>
          <p:cNvPr id="15" name="Shape 11"/>
          <p:cNvSpPr/>
          <p:nvPr/>
        </p:nvSpPr>
        <p:spPr>
          <a:xfrm>
            <a:off x="8330184" y="1965960"/>
            <a:ext cx="566928" cy="566928"/>
          </a:xfrm>
          <a:prstGeom prst="ellipse">
            <a:avLst/>
          </a:prstGeom>
          <a:solidFill>
            <a:srgbClr val="14B8A6"/>
          </a:solidFill>
          <a:ln w="12700">
            <a:solidFill>
              <a:srgbClr val="14B8A6"/>
            </a:solidFill>
            <a:prstDash val="solid"/>
          </a:ln>
        </p:spPr>
        <p:txBody>
          <a:bodyPr/>
          <a:lstStyle/>
          <a:p>
            <a:endParaRPr lang="en-MY"/>
          </a:p>
        </p:txBody>
      </p:sp>
      <p:pic>
        <p:nvPicPr>
          <p:cNvPr id="16" name="Image 2" descr="preencoded.png"/>
          <p:cNvPicPr>
            <a:picLocks noChangeAspect="1"/>
          </p:cNvPicPr>
          <p:nvPr/>
        </p:nvPicPr>
        <p:blipFill>
          <a:blip r:embed="rId5"/>
          <a:stretch>
            <a:fillRect/>
          </a:stretch>
        </p:blipFill>
        <p:spPr>
          <a:xfrm>
            <a:off x="8477585" y="2113361"/>
            <a:ext cx="272125" cy="272125"/>
          </a:xfrm>
          <a:prstGeom prst="rect">
            <a:avLst/>
          </a:prstGeom>
        </p:spPr>
      </p:pic>
      <p:sp>
        <p:nvSpPr>
          <p:cNvPr id="17" name="Text 12"/>
          <p:cNvSpPr txBox="1"/>
          <p:nvPr/>
        </p:nvSpPr>
        <p:spPr>
          <a:xfrm>
            <a:off x="8330184" y="2651760"/>
            <a:ext cx="3063240" cy="411480"/>
          </a:xfrm>
          <a:prstGeom prst="rect">
            <a:avLst/>
          </a:prstGeom>
          <a:noFill/>
          <a:ln/>
        </p:spPr>
        <p:txBody>
          <a:bodyPr wrap="square" lIns="0" tIns="0" rIns="0" bIns="0" rtlCol="0" anchor="ctr"/>
          <a:lstStyle/>
          <a:p>
            <a:pPr marL="0" indent="0">
              <a:buNone/>
            </a:pPr>
            <a:r>
              <a:rPr lang="en-US" sz="1600" b="1" dirty="0">
                <a:solidFill>
                  <a:srgbClr val="0E1630"/>
                </a:solidFill>
                <a:latin typeface="Calibri" pitchFamily="34" charset="0"/>
                <a:ea typeface="Calibri" pitchFamily="34" charset="-122"/>
                <a:cs typeface="Calibri" pitchFamily="34" charset="-120"/>
              </a:rPr>
              <a:t>Transactions, budgets &amp; assets</a:t>
            </a:r>
            <a:endParaRPr lang="en-US" sz="1600" dirty="0"/>
          </a:p>
        </p:txBody>
      </p:sp>
      <p:sp>
        <p:nvSpPr>
          <p:cNvPr id="18" name="Text 13"/>
          <p:cNvSpPr txBox="1"/>
          <p:nvPr/>
        </p:nvSpPr>
        <p:spPr>
          <a:xfrm>
            <a:off x="8330184" y="3063240"/>
            <a:ext cx="3063240" cy="73152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Tables of income/expenses, spending limits and owned items</a:t>
            </a:r>
            <a:endParaRPr lang="en-US" sz="1250" dirty="0"/>
          </a:p>
        </p:txBody>
      </p:sp>
      <p:sp>
        <p:nvSpPr>
          <p:cNvPr id="19" name="Shape 14"/>
          <p:cNvSpPr/>
          <p:nvPr/>
        </p:nvSpPr>
        <p:spPr>
          <a:xfrm>
            <a:off x="548640" y="4160520"/>
            <a:ext cx="3520440" cy="2148840"/>
          </a:xfrm>
          <a:prstGeom prst="roundRect">
            <a:avLst>
              <a:gd name="adj" fmla="val 5957"/>
            </a:avLst>
          </a:prstGeom>
          <a:solidFill>
            <a:srgbClr val="F4F6FA"/>
          </a:solidFill>
          <a:ln w="9525">
            <a:solidFill>
              <a:srgbClr val="E3E7F0"/>
            </a:solidFill>
            <a:prstDash val="solid"/>
          </a:ln>
        </p:spPr>
        <p:txBody>
          <a:bodyPr/>
          <a:lstStyle/>
          <a:p>
            <a:endParaRPr lang="en-MY"/>
          </a:p>
        </p:txBody>
      </p:sp>
      <p:sp>
        <p:nvSpPr>
          <p:cNvPr id="20" name="Shape 15"/>
          <p:cNvSpPr/>
          <p:nvPr/>
        </p:nvSpPr>
        <p:spPr>
          <a:xfrm>
            <a:off x="777240" y="4389120"/>
            <a:ext cx="566928" cy="566928"/>
          </a:xfrm>
          <a:prstGeom prst="ellipse">
            <a:avLst/>
          </a:prstGeom>
          <a:solidFill>
            <a:srgbClr val="F59E0B"/>
          </a:solidFill>
          <a:ln w="12700">
            <a:solidFill>
              <a:srgbClr val="F59E0B"/>
            </a:solidFill>
            <a:prstDash val="solid"/>
          </a:ln>
        </p:spPr>
        <p:txBody>
          <a:bodyPr/>
          <a:lstStyle/>
          <a:p>
            <a:endParaRPr lang="en-MY"/>
          </a:p>
        </p:txBody>
      </p:sp>
      <p:pic>
        <p:nvPicPr>
          <p:cNvPr id="21" name="Image 3" descr="preencoded.png"/>
          <p:cNvPicPr>
            <a:picLocks noChangeAspect="1"/>
          </p:cNvPicPr>
          <p:nvPr/>
        </p:nvPicPr>
        <p:blipFill>
          <a:blip r:embed="rId6"/>
          <a:stretch>
            <a:fillRect/>
          </a:stretch>
        </p:blipFill>
        <p:spPr>
          <a:xfrm>
            <a:off x="924641" y="4536521"/>
            <a:ext cx="272125" cy="272125"/>
          </a:xfrm>
          <a:prstGeom prst="rect">
            <a:avLst/>
          </a:prstGeom>
        </p:spPr>
      </p:pic>
      <p:sp>
        <p:nvSpPr>
          <p:cNvPr id="22" name="Text 16"/>
          <p:cNvSpPr txBox="1"/>
          <p:nvPr/>
        </p:nvSpPr>
        <p:spPr>
          <a:xfrm>
            <a:off x="777240" y="5074920"/>
            <a:ext cx="3063240" cy="411480"/>
          </a:xfrm>
          <a:prstGeom prst="rect">
            <a:avLst/>
          </a:prstGeom>
          <a:noFill/>
          <a:ln/>
        </p:spPr>
        <p:txBody>
          <a:bodyPr wrap="square" lIns="0" tIns="0" rIns="0" bIns="0" rtlCol="0" anchor="ctr"/>
          <a:lstStyle/>
          <a:p>
            <a:pPr marL="0" indent="0">
              <a:buNone/>
            </a:pPr>
            <a:r>
              <a:rPr lang="en-US" sz="1600" b="1" dirty="0">
                <a:solidFill>
                  <a:srgbClr val="0E1630"/>
                </a:solidFill>
                <a:latin typeface="Calibri" pitchFamily="34" charset="0"/>
                <a:ea typeface="Calibri" pitchFamily="34" charset="-122"/>
                <a:cs typeface="Calibri" pitchFamily="34" charset="-120"/>
              </a:rPr>
              <a:t>Chat-to-form</a:t>
            </a:r>
            <a:endParaRPr lang="en-US" sz="1600" dirty="0"/>
          </a:p>
        </p:txBody>
      </p:sp>
      <p:sp>
        <p:nvSpPr>
          <p:cNvPr id="23" name="Text 17"/>
          <p:cNvSpPr txBox="1"/>
          <p:nvPr/>
        </p:nvSpPr>
        <p:spPr>
          <a:xfrm>
            <a:off x="777240" y="5486400"/>
            <a:ext cx="3063240" cy="73152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"I bought a phone" opens a pre-filled form for you to finish</a:t>
            </a:r>
            <a:endParaRPr lang="en-US" sz="1250" dirty="0"/>
          </a:p>
        </p:txBody>
      </p:sp>
      <p:sp>
        <p:nvSpPr>
          <p:cNvPr id="24" name="Shape 18"/>
          <p:cNvSpPr/>
          <p:nvPr/>
        </p:nvSpPr>
        <p:spPr>
          <a:xfrm>
            <a:off x="4325112" y="4160520"/>
            <a:ext cx="3520440" cy="2148840"/>
          </a:xfrm>
          <a:prstGeom prst="roundRect">
            <a:avLst>
              <a:gd name="adj" fmla="val 5957"/>
            </a:avLst>
          </a:prstGeom>
          <a:solidFill>
            <a:srgbClr val="F4F6FA"/>
          </a:solidFill>
          <a:ln w="9525">
            <a:solidFill>
              <a:srgbClr val="E3E7F0"/>
            </a:solidFill>
            <a:prstDash val="solid"/>
          </a:ln>
        </p:spPr>
        <p:txBody>
          <a:bodyPr/>
          <a:lstStyle/>
          <a:p>
            <a:endParaRPr lang="en-MY"/>
          </a:p>
        </p:txBody>
      </p:sp>
      <p:sp>
        <p:nvSpPr>
          <p:cNvPr id="25" name="Shape 19"/>
          <p:cNvSpPr/>
          <p:nvPr/>
        </p:nvSpPr>
        <p:spPr>
          <a:xfrm>
            <a:off x="4553712" y="4389120"/>
            <a:ext cx="566928" cy="566928"/>
          </a:xfrm>
          <a:prstGeom prst="ellipse">
            <a:avLst/>
          </a:prstGeom>
          <a:solidFill>
            <a:srgbClr val="0B5FFF"/>
          </a:solidFill>
          <a:ln w="12700">
            <a:solidFill>
              <a:srgbClr val="0B5FFF"/>
            </a:solidFill>
            <a:prstDash val="solid"/>
          </a:ln>
        </p:spPr>
        <p:txBody>
          <a:bodyPr/>
          <a:lstStyle/>
          <a:p>
            <a:endParaRPr lang="en-MY"/>
          </a:p>
        </p:txBody>
      </p:sp>
      <p:pic>
        <p:nvPicPr>
          <p:cNvPr id="26" name="Image 4" descr="preencoded.png"/>
          <p:cNvPicPr>
            <a:picLocks noChangeAspect="1"/>
          </p:cNvPicPr>
          <p:nvPr/>
        </p:nvPicPr>
        <p:blipFill>
          <a:blip r:embed="rId7"/>
          <a:stretch>
            <a:fillRect/>
          </a:stretch>
        </p:blipFill>
        <p:spPr>
          <a:xfrm>
            <a:off x="4701113" y="4536521"/>
            <a:ext cx="272125" cy="272125"/>
          </a:xfrm>
          <a:prstGeom prst="rect">
            <a:avLst/>
          </a:prstGeom>
        </p:spPr>
      </p:pic>
      <p:sp>
        <p:nvSpPr>
          <p:cNvPr id="27" name="Text 20"/>
          <p:cNvSpPr txBox="1"/>
          <p:nvPr/>
        </p:nvSpPr>
        <p:spPr>
          <a:xfrm>
            <a:off x="4553712" y="5074920"/>
            <a:ext cx="3063240" cy="411480"/>
          </a:xfrm>
          <a:prstGeom prst="rect">
            <a:avLst/>
          </a:prstGeom>
          <a:noFill/>
          <a:ln/>
        </p:spPr>
        <p:txBody>
          <a:bodyPr wrap="square" lIns="0" tIns="0" rIns="0" bIns="0" rtlCol="0" anchor="ctr"/>
          <a:lstStyle/>
          <a:p>
            <a:pPr marL="0" indent="0">
              <a:buNone/>
            </a:pPr>
            <a:r>
              <a:rPr lang="en-US" sz="1600" b="1" dirty="0">
                <a:solidFill>
                  <a:srgbClr val="0E1630"/>
                </a:solidFill>
                <a:latin typeface="Calibri" pitchFamily="34" charset="0"/>
                <a:ea typeface="Calibri" pitchFamily="34" charset="-122"/>
                <a:cs typeface="Calibri" pitchFamily="34" charset="-120"/>
              </a:rPr>
              <a:t>CRM database</a:t>
            </a:r>
            <a:endParaRPr lang="en-US" sz="1600" dirty="0"/>
          </a:p>
        </p:txBody>
      </p:sp>
      <p:sp>
        <p:nvSpPr>
          <p:cNvPr id="28" name="Text 21"/>
          <p:cNvSpPr txBox="1"/>
          <p:nvPr/>
        </p:nvSpPr>
        <p:spPr>
          <a:xfrm>
            <a:off x="4553712" y="5486400"/>
            <a:ext cx="3063240" cy="73152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Natural-language questions over the CRM, writes need approval</a:t>
            </a:r>
            <a:endParaRPr lang="en-US" sz="1250" dirty="0"/>
          </a:p>
        </p:txBody>
      </p:sp>
      <p:sp>
        <p:nvSpPr>
          <p:cNvPr id="29" name="Shape 22"/>
          <p:cNvSpPr/>
          <p:nvPr/>
        </p:nvSpPr>
        <p:spPr>
          <a:xfrm>
            <a:off x="8101584" y="4160520"/>
            <a:ext cx="3520440" cy="2148840"/>
          </a:xfrm>
          <a:prstGeom prst="roundRect">
            <a:avLst>
              <a:gd name="adj" fmla="val 5957"/>
            </a:avLst>
          </a:prstGeom>
          <a:solidFill>
            <a:srgbClr val="F4F6FA"/>
          </a:solidFill>
          <a:ln w="9525">
            <a:solidFill>
              <a:srgbClr val="E3E7F0"/>
            </a:solidFill>
            <a:prstDash val="solid"/>
          </a:ln>
        </p:spPr>
        <p:txBody>
          <a:bodyPr/>
          <a:lstStyle/>
          <a:p>
            <a:endParaRPr lang="en-MY"/>
          </a:p>
        </p:txBody>
      </p:sp>
      <p:sp>
        <p:nvSpPr>
          <p:cNvPr id="30" name="Shape 23"/>
          <p:cNvSpPr/>
          <p:nvPr/>
        </p:nvSpPr>
        <p:spPr>
          <a:xfrm>
            <a:off x="8330184" y="4389120"/>
            <a:ext cx="566928" cy="566928"/>
          </a:xfrm>
          <a:prstGeom prst="ellipse">
            <a:avLst/>
          </a:prstGeom>
          <a:solidFill>
            <a:srgbClr val="0B5FFF"/>
          </a:solidFill>
          <a:ln w="12700">
            <a:solidFill>
              <a:srgbClr val="0B5FFF"/>
            </a:solidFill>
            <a:prstDash val="solid"/>
          </a:ln>
        </p:spPr>
        <p:txBody>
          <a:bodyPr/>
          <a:lstStyle/>
          <a:p>
            <a:endParaRPr lang="en-MY"/>
          </a:p>
        </p:txBody>
      </p:sp>
      <p:pic>
        <p:nvPicPr>
          <p:cNvPr id="31" name="Image 5" descr="preencoded.png"/>
          <p:cNvPicPr>
            <a:picLocks noChangeAspect="1"/>
          </p:cNvPicPr>
          <p:nvPr/>
        </p:nvPicPr>
        <p:blipFill>
          <a:blip r:embed="rId8"/>
          <a:stretch>
            <a:fillRect/>
          </a:stretch>
        </p:blipFill>
        <p:spPr>
          <a:xfrm>
            <a:off x="8477585" y="4536521"/>
            <a:ext cx="272125" cy="272125"/>
          </a:xfrm>
          <a:prstGeom prst="rect">
            <a:avLst/>
          </a:prstGeom>
        </p:spPr>
      </p:pic>
      <p:sp>
        <p:nvSpPr>
          <p:cNvPr id="32" name="Text 24"/>
          <p:cNvSpPr txBox="1"/>
          <p:nvPr/>
        </p:nvSpPr>
        <p:spPr>
          <a:xfrm>
            <a:off x="8330184" y="5074920"/>
            <a:ext cx="3063240" cy="411480"/>
          </a:xfrm>
          <a:prstGeom prst="rect">
            <a:avLst/>
          </a:prstGeom>
          <a:noFill/>
          <a:ln/>
        </p:spPr>
        <p:txBody>
          <a:bodyPr wrap="square" lIns="0" tIns="0" rIns="0" bIns="0" rtlCol="0" anchor="ctr"/>
          <a:lstStyle/>
          <a:p>
            <a:pPr marL="0" indent="0">
              <a:buNone/>
            </a:pPr>
            <a:r>
              <a:rPr lang="en-US" sz="1600" b="1" dirty="0">
                <a:solidFill>
                  <a:srgbClr val="0E1630"/>
                </a:solidFill>
                <a:latin typeface="Calibri" pitchFamily="34" charset="0"/>
                <a:ea typeface="Calibri" pitchFamily="34" charset="-122"/>
                <a:cs typeface="Calibri" pitchFamily="34" charset="-120"/>
              </a:rPr>
              <a:t>Ask your documents</a:t>
            </a:r>
            <a:endParaRPr lang="en-US" sz="1600" dirty="0"/>
          </a:p>
        </p:txBody>
      </p:sp>
      <p:sp>
        <p:nvSpPr>
          <p:cNvPr id="33" name="Text 25"/>
          <p:cNvSpPr txBox="1"/>
          <p:nvPr/>
        </p:nvSpPr>
        <p:spPr>
          <a:xfrm>
            <a:off x="8330184" y="5486400"/>
            <a:ext cx="3063240" cy="731520"/>
          </a:xfrm>
          <a:prstGeom prst="rect">
            <a:avLst/>
          </a:prstGeom>
          <a:noFill/>
          <a:ln/>
        </p:spPr>
        <p:txBody>
          <a:bodyPr wrap="square" lIns="0" tIns="0" rIns="0" bIns="0" rtlCol="0" anchor="t"/>
          <a:lstStyle/>
          <a:p>
            <a:pPr marL="0" indent="0">
              <a:buNone/>
            </a:pPr>
            <a:r>
              <a:rPr lang="en-US" sz="1250" dirty="0">
                <a:solidFill>
                  <a:srgbClr val="5B6478"/>
                </a:solidFill>
                <a:latin typeface="Calibri" pitchFamily="34" charset="0"/>
                <a:ea typeface="Calibri" pitchFamily="34" charset="-122"/>
                <a:cs typeface="Calibri" pitchFamily="34" charset="-120"/>
              </a:rPr>
              <a:t>Upload a PDF, Word, Excel or PowerPoint file and ask about it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630"/>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How it works</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B8C4E6"/>
                </a:solidFill>
                <a:latin typeface="Calibri" pitchFamily="34" charset="0"/>
                <a:ea typeface="Calibri" pitchFamily="34" charset="-122"/>
                <a:cs typeface="Calibri" pitchFamily="34" charset="-120"/>
              </a:rPr>
              <a:t>The model decides; deterministic code executes. Every write passes through a human-approved sheet.</a:t>
            </a:r>
            <a:endParaRPr lang="en-US" sz="1600" dirty="0"/>
          </a:p>
        </p:txBody>
      </p:sp>
      <p:sp>
        <p:nvSpPr>
          <p:cNvPr id="4" name="Shape 2"/>
          <p:cNvSpPr/>
          <p:nvPr/>
        </p:nvSpPr>
        <p:spPr>
          <a:xfrm>
            <a:off x="548640" y="2743200"/>
            <a:ext cx="2103120" cy="1188720"/>
          </a:xfrm>
          <a:prstGeom prst="roundRect">
            <a:avLst>
              <a:gd name="adj" fmla="val 9231"/>
            </a:avLst>
          </a:prstGeom>
          <a:solidFill>
            <a:srgbClr val="1A2550"/>
          </a:solidFill>
          <a:ln w="19050">
            <a:solidFill>
              <a:srgbClr val="0B5FFF"/>
            </a:solidFill>
            <a:prstDash val="solid"/>
          </a:ln>
        </p:spPr>
        <p:txBody>
          <a:bodyPr/>
          <a:lstStyle/>
          <a:p>
            <a:endParaRPr lang="en-MY"/>
          </a:p>
        </p:txBody>
      </p:sp>
      <p:sp>
        <p:nvSpPr>
          <p:cNvPr id="5" name="Text 3"/>
          <p:cNvSpPr txBox="1"/>
          <p:nvPr/>
        </p:nvSpPr>
        <p:spPr>
          <a:xfrm>
            <a:off x="685800" y="2816352"/>
            <a:ext cx="1828800" cy="104241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Web / mobile UI</a:t>
            </a:r>
            <a:endParaRPr lang="en-US" sz="1500" dirty="0"/>
          </a:p>
          <a:p>
            <a:pPr marL="0" indent="0">
              <a:buNone/>
            </a:pPr>
            <a:r>
              <a:rPr lang="en-US" sz="1150" dirty="0">
                <a:solidFill>
                  <a:srgbClr val="B8C4E6"/>
                </a:solidFill>
                <a:latin typeface="Calibri" pitchFamily="34" charset="0"/>
                <a:ea typeface="Calibri" pitchFamily="34" charset="-122"/>
                <a:cs typeface="Calibri" pitchFamily="34" charset="-120"/>
              </a:rPr>
              <a:t>Chat + bottom sheets rendered from JSON</a:t>
            </a:r>
            <a:endParaRPr lang="en-US" sz="1500" dirty="0"/>
          </a:p>
        </p:txBody>
      </p:sp>
      <p:sp>
        <p:nvSpPr>
          <p:cNvPr id="6" name="Shape 4"/>
          <p:cNvSpPr/>
          <p:nvPr/>
        </p:nvSpPr>
        <p:spPr>
          <a:xfrm>
            <a:off x="3200400" y="2743200"/>
            <a:ext cx="2103120" cy="1188720"/>
          </a:xfrm>
          <a:prstGeom prst="roundRect">
            <a:avLst>
              <a:gd name="adj" fmla="val 9231"/>
            </a:avLst>
          </a:prstGeom>
          <a:solidFill>
            <a:srgbClr val="1A2550"/>
          </a:solidFill>
          <a:ln w="19050">
            <a:solidFill>
              <a:srgbClr val="0B5FFF"/>
            </a:solidFill>
            <a:prstDash val="solid"/>
          </a:ln>
        </p:spPr>
        <p:txBody>
          <a:bodyPr/>
          <a:lstStyle/>
          <a:p>
            <a:endParaRPr lang="en-MY"/>
          </a:p>
        </p:txBody>
      </p:sp>
      <p:sp>
        <p:nvSpPr>
          <p:cNvPr id="7" name="Text 5"/>
          <p:cNvSpPr txBox="1"/>
          <p:nvPr/>
        </p:nvSpPr>
        <p:spPr>
          <a:xfrm>
            <a:off x="3337560" y="2816352"/>
            <a:ext cx="1828800" cy="104241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Flask API</a:t>
            </a:r>
            <a:endParaRPr lang="en-US" sz="1500" dirty="0"/>
          </a:p>
          <a:p>
            <a:pPr marL="0" indent="0">
              <a:buNone/>
            </a:pPr>
            <a:r>
              <a:rPr lang="en-US" sz="1150" dirty="0">
                <a:solidFill>
                  <a:srgbClr val="B8C4E6"/>
                </a:solidFill>
                <a:latin typeface="Calibri" pitchFamily="34" charset="0"/>
                <a:ea typeface="Calibri" pitchFamily="34" charset="-122"/>
                <a:cs typeface="Calibri" pitchFamily="34" charset="-120"/>
              </a:rPr>
              <a:t>/send · /resume · /entry · /upload</a:t>
            </a:r>
            <a:endParaRPr lang="en-US" sz="1500" dirty="0"/>
          </a:p>
        </p:txBody>
      </p:sp>
      <p:sp>
        <p:nvSpPr>
          <p:cNvPr id="8" name="Shape 6"/>
          <p:cNvSpPr/>
          <p:nvPr/>
        </p:nvSpPr>
        <p:spPr>
          <a:xfrm>
            <a:off x="5852160" y="2194560"/>
            <a:ext cx="2377440" cy="2286000"/>
          </a:xfrm>
          <a:prstGeom prst="roundRect">
            <a:avLst>
              <a:gd name="adj" fmla="val 4800"/>
            </a:avLst>
          </a:prstGeom>
          <a:solidFill>
            <a:srgbClr val="1A2550"/>
          </a:solidFill>
          <a:ln w="19050">
            <a:solidFill>
              <a:srgbClr val="F59E0B"/>
            </a:solidFill>
            <a:prstDash val="solid"/>
          </a:ln>
        </p:spPr>
        <p:txBody>
          <a:bodyPr/>
          <a:lstStyle/>
          <a:p>
            <a:endParaRPr lang="en-MY"/>
          </a:p>
        </p:txBody>
      </p:sp>
      <p:sp>
        <p:nvSpPr>
          <p:cNvPr id="9" name="Text 7"/>
          <p:cNvSpPr txBox="1"/>
          <p:nvPr/>
        </p:nvSpPr>
        <p:spPr>
          <a:xfrm>
            <a:off x="5989320" y="2267712"/>
            <a:ext cx="2103120" cy="21396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LangGraph agent</a:t>
            </a:r>
            <a:endParaRPr lang="en-US" sz="1500" dirty="0"/>
          </a:p>
          <a:p>
            <a:pPr marL="0" indent="0">
              <a:buNone/>
            </a:pPr>
            <a:r>
              <a:rPr lang="en-US" sz="1150" dirty="0">
                <a:solidFill>
                  <a:srgbClr val="B8C4E6"/>
                </a:solidFill>
                <a:latin typeface="Calibri" pitchFamily="34" charset="0"/>
                <a:ea typeface="Calibri" pitchFamily="34" charset="-122"/>
                <a:cs typeface="Calibri" pitchFamily="34" charset="-120"/>
              </a:rPr>
              <a:t>LLM tool routing, checkpointed thread state, interrupt / resume, bounded loops</a:t>
            </a:r>
            <a:endParaRPr lang="en-US" sz="1500" dirty="0"/>
          </a:p>
        </p:txBody>
      </p:sp>
      <p:sp>
        <p:nvSpPr>
          <p:cNvPr id="10" name="Shape 8"/>
          <p:cNvSpPr/>
          <p:nvPr/>
        </p:nvSpPr>
        <p:spPr>
          <a:xfrm>
            <a:off x="2651760" y="3337560"/>
            <a:ext cx="548640" cy="0"/>
          </a:xfrm>
          <a:prstGeom prst="line">
            <a:avLst/>
          </a:prstGeom>
          <a:noFill/>
          <a:ln w="19050">
            <a:solidFill>
              <a:srgbClr val="7F8BB0"/>
            </a:solidFill>
            <a:prstDash val="solid"/>
            <a:tailEnd type="triangle"/>
          </a:ln>
        </p:spPr>
        <p:txBody>
          <a:bodyPr/>
          <a:lstStyle/>
          <a:p>
            <a:endParaRPr lang="en-MY"/>
          </a:p>
        </p:txBody>
      </p:sp>
      <p:sp>
        <p:nvSpPr>
          <p:cNvPr id="11" name="Shape 9"/>
          <p:cNvSpPr/>
          <p:nvPr/>
        </p:nvSpPr>
        <p:spPr>
          <a:xfrm>
            <a:off x="5303520" y="3337560"/>
            <a:ext cx="548640" cy="0"/>
          </a:xfrm>
          <a:prstGeom prst="line">
            <a:avLst/>
          </a:prstGeom>
          <a:noFill/>
          <a:ln w="19050">
            <a:solidFill>
              <a:srgbClr val="7F8BB0"/>
            </a:solidFill>
            <a:prstDash val="solid"/>
            <a:tailEnd type="triangle"/>
          </a:ln>
        </p:spPr>
        <p:txBody>
          <a:bodyPr/>
          <a:lstStyle/>
          <a:p>
            <a:endParaRPr lang="en-MY"/>
          </a:p>
        </p:txBody>
      </p:sp>
      <p:sp>
        <p:nvSpPr>
          <p:cNvPr id="12" name="Shape 10"/>
          <p:cNvSpPr/>
          <p:nvPr/>
        </p:nvSpPr>
        <p:spPr>
          <a:xfrm>
            <a:off x="8961120" y="1965960"/>
            <a:ext cx="2697480" cy="914400"/>
          </a:xfrm>
          <a:prstGeom prst="roundRect">
            <a:avLst>
              <a:gd name="adj" fmla="val 12000"/>
            </a:avLst>
          </a:prstGeom>
          <a:solidFill>
            <a:srgbClr val="1A2550"/>
          </a:solidFill>
          <a:ln w="19050">
            <a:solidFill>
              <a:srgbClr val="0B5FFF"/>
            </a:solidFill>
            <a:prstDash val="solid"/>
          </a:ln>
        </p:spPr>
        <p:txBody>
          <a:bodyPr/>
          <a:lstStyle/>
          <a:p>
            <a:endParaRPr lang="en-MY"/>
          </a:p>
        </p:txBody>
      </p:sp>
      <p:sp>
        <p:nvSpPr>
          <p:cNvPr id="13" name="Text 11"/>
          <p:cNvSpPr txBox="1"/>
          <p:nvPr/>
        </p:nvSpPr>
        <p:spPr>
          <a:xfrm>
            <a:off x="9098280" y="2039112"/>
            <a:ext cx="2423160" cy="7680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RAG</a:t>
            </a:r>
            <a:endParaRPr lang="en-US" sz="1500" dirty="0"/>
          </a:p>
          <a:p>
            <a:pPr marL="0" indent="0">
              <a:buNone/>
            </a:pPr>
            <a:r>
              <a:rPr lang="en-US" sz="1150" dirty="0">
                <a:solidFill>
                  <a:srgbClr val="B8C4E6"/>
                </a:solidFill>
                <a:latin typeface="Calibri" pitchFamily="34" charset="0"/>
                <a:ea typeface="Calibri" pitchFamily="34" charset="-122"/>
                <a:cs typeface="Calibri" pitchFamily="34" charset="-120"/>
              </a:rPr>
              <a:t>Milvus + TEI (multilingual-e5)</a:t>
            </a:r>
            <a:endParaRPr lang="en-US" sz="1500" dirty="0"/>
          </a:p>
        </p:txBody>
      </p:sp>
      <p:sp>
        <p:nvSpPr>
          <p:cNvPr id="14" name="Shape 12"/>
          <p:cNvSpPr/>
          <p:nvPr/>
        </p:nvSpPr>
        <p:spPr>
          <a:xfrm flipV="1">
            <a:off x="8229600" y="2423160"/>
            <a:ext cx="731520" cy="914400"/>
          </a:xfrm>
          <a:prstGeom prst="line">
            <a:avLst/>
          </a:prstGeom>
          <a:noFill/>
          <a:ln w="19050">
            <a:solidFill>
              <a:srgbClr val="7F8BB0"/>
            </a:solidFill>
            <a:prstDash val="solid"/>
            <a:tailEnd type="triangle"/>
          </a:ln>
        </p:spPr>
        <p:txBody>
          <a:bodyPr/>
          <a:lstStyle/>
          <a:p>
            <a:endParaRPr lang="en-MY"/>
          </a:p>
        </p:txBody>
      </p:sp>
      <p:sp>
        <p:nvSpPr>
          <p:cNvPr id="15" name="Shape 13"/>
          <p:cNvSpPr/>
          <p:nvPr/>
        </p:nvSpPr>
        <p:spPr>
          <a:xfrm>
            <a:off x="8961120" y="3337560"/>
            <a:ext cx="2697480" cy="914400"/>
          </a:xfrm>
          <a:prstGeom prst="roundRect">
            <a:avLst>
              <a:gd name="adj" fmla="val 12000"/>
            </a:avLst>
          </a:prstGeom>
          <a:solidFill>
            <a:srgbClr val="1A2550"/>
          </a:solidFill>
          <a:ln w="19050">
            <a:solidFill>
              <a:srgbClr val="14B8A6"/>
            </a:solidFill>
            <a:prstDash val="solid"/>
          </a:ln>
        </p:spPr>
        <p:txBody>
          <a:bodyPr/>
          <a:lstStyle/>
          <a:p>
            <a:endParaRPr lang="en-MY"/>
          </a:p>
        </p:txBody>
      </p:sp>
      <p:sp>
        <p:nvSpPr>
          <p:cNvPr id="16" name="Text 14"/>
          <p:cNvSpPr txBox="1"/>
          <p:nvPr/>
        </p:nvSpPr>
        <p:spPr>
          <a:xfrm>
            <a:off x="9098280" y="3410712"/>
            <a:ext cx="2423160" cy="7680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Budget API</a:t>
            </a:r>
            <a:endParaRPr lang="en-US" sz="1500" dirty="0"/>
          </a:p>
          <a:p>
            <a:pPr marL="0" indent="0">
              <a:buNone/>
            </a:pPr>
            <a:r>
              <a:rPr lang="en-US" sz="1150" dirty="0">
                <a:solidFill>
                  <a:srgbClr val="B8C4E6"/>
                </a:solidFill>
                <a:latin typeface="Calibri" pitchFamily="34" charset="0"/>
                <a:ea typeface="Calibri" pitchFamily="34" charset="-122"/>
                <a:cs typeface="Calibri" pitchFamily="34" charset="-120"/>
              </a:rPr>
              <a:t>Spring Boot + PostgreSQL</a:t>
            </a:r>
            <a:endParaRPr lang="en-US" sz="1500" dirty="0"/>
          </a:p>
        </p:txBody>
      </p:sp>
      <p:sp>
        <p:nvSpPr>
          <p:cNvPr id="17" name="Shape 15"/>
          <p:cNvSpPr/>
          <p:nvPr/>
        </p:nvSpPr>
        <p:spPr>
          <a:xfrm>
            <a:off x="8229600" y="3337560"/>
            <a:ext cx="731520" cy="457200"/>
          </a:xfrm>
          <a:prstGeom prst="line">
            <a:avLst/>
          </a:prstGeom>
          <a:noFill/>
          <a:ln w="19050">
            <a:solidFill>
              <a:srgbClr val="7F8BB0"/>
            </a:solidFill>
            <a:prstDash val="solid"/>
            <a:tailEnd type="triangle"/>
          </a:ln>
        </p:spPr>
        <p:txBody>
          <a:bodyPr/>
          <a:lstStyle/>
          <a:p>
            <a:endParaRPr lang="en-MY"/>
          </a:p>
        </p:txBody>
      </p:sp>
      <p:sp>
        <p:nvSpPr>
          <p:cNvPr id="18" name="Shape 16"/>
          <p:cNvSpPr/>
          <p:nvPr/>
        </p:nvSpPr>
        <p:spPr>
          <a:xfrm>
            <a:off x="8961120" y="4709160"/>
            <a:ext cx="2697480" cy="914400"/>
          </a:xfrm>
          <a:prstGeom prst="roundRect">
            <a:avLst>
              <a:gd name="adj" fmla="val 12000"/>
            </a:avLst>
          </a:prstGeom>
          <a:solidFill>
            <a:srgbClr val="1A2550"/>
          </a:solidFill>
          <a:ln w="19050">
            <a:solidFill>
              <a:srgbClr val="0B5FFF"/>
            </a:solidFill>
            <a:prstDash val="solid"/>
          </a:ln>
        </p:spPr>
        <p:txBody>
          <a:bodyPr/>
          <a:lstStyle/>
          <a:p>
            <a:endParaRPr lang="en-MY"/>
          </a:p>
        </p:txBody>
      </p:sp>
      <p:sp>
        <p:nvSpPr>
          <p:cNvPr id="19" name="Text 17"/>
          <p:cNvSpPr txBox="1"/>
          <p:nvPr/>
        </p:nvSpPr>
        <p:spPr>
          <a:xfrm>
            <a:off x="9098280" y="4782312"/>
            <a:ext cx="2423160" cy="7680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BEMS DB</a:t>
            </a:r>
            <a:endParaRPr lang="en-US" sz="1500" dirty="0"/>
          </a:p>
          <a:p>
            <a:pPr marL="0" indent="0">
              <a:buNone/>
            </a:pPr>
            <a:r>
              <a:rPr lang="en-US" sz="1150" dirty="0">
                <a:solidFill>
                  <a:srgbClr val="B8C4E6"/>
                </a:solidFill>
                <a:latin typeface="Calibri" pitchFamily="34" charset="0"/>
                <a:ea typeface="Calibri" pitchFamily="34" charset="-122"/>
                <a:cs typeface="Calibri" pitchFamily="34" charset="-120"/>
              </a:rPr>
              <a:t>PostgreSQL (read / approved write)</a:t>
            </a:r>
            <a:endParaRPr lang="en-US" sz="1500" dirty="0"/>
          </a:p>
        </p:txBody>
      </p:sp>
      <p:sp>
        <p:nvSpPr>
          <p:cNvPr id="20" name="Shape 18"/>
          <p:cNvSpPr/>
          <p:nvPr/>
        </p:nvSpPr>
        <p:spPr>
          <a:xfrm>
            <a:off x="8229600" y="3337560"/>
            <a:ext cx="731520" cy="1828800"/>
          </a:xfrm>
          <a:prstGeom prst="line">
            <a:avLst/>
          </a:prstGeom>
          <a:noFill/>
          <a:ln w="19050">
            <a:solidFill>
              <a:srgbClr val="7F8BB0"/>
            </a:solidFill>
            <a:prstDash val="solid"/>
            <a:tailEnd type="triangle"/>
          </a:ln>
        </p:spPr>
        <p:txBody>
          <a:bodyPr/>
          <a:lstStyle/>
          <a:p>
            <a:endParaRPr lang="en-MY"/>
          </a:p>
        </p:txBody>
      </p:sp>
      <p:sp>
        <p:nvSpPr>
          <p:cNvPr id="21" name="Shape 19"/>
          <p:cNvSpPr/>
          <p:nvPr/>
        </p:nvSpPr>
        <p:spPr>
          <a:xfrm>
            <a:off x="548640" y="4846320"/>
            <a:ext cx="7680960" cy="1280160"/>
          </a:xfrm>
          <a:prstGeom prst="roundRect">
            <a:avLst>
              <a:gd name="adj" fmla="val 8571"/>
            </a:avLst>
          </a:prstGeom>
          <a:solidFill>
            <a:srgbClr val="13245E"/>
          </a:solidFill>
          <a:ln w="12700">
            <a:solidFill>
              <a:srgbClr val="13245E"/>
            </a:solidFill>
            <a:prstDash val="solid"/>
          </a:ln>
        </p:spPr>
        <p:txBody>
          <a:bodyPr/>
          <a:lstStyle/>
          <a:p>
            <a:endParaRPr lang="en-MY"/>
          </a:p>
        </p:txBody>
      </p:sp>
      <p:sp>
        <p:nvSpPr>
          <p:cNvPr id="22" name="Text 20"/>
          <p:cNvSpPr txBox="1"/>
          <p:nvPr/>
        </p:nvSpPr>
        <p:spPr>
          <a:xfrm>
            <a:off x="777240" y="4937760"/>
            <a:ext cx="7223760" cy="10972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One interrupt protocol, any client.  </a:t>
            </a:r>
            <a:r>
              <a:rPr lang="en-US" sz="1300" dirty="0">
                <a:solidFill>
                  <a:srgbClr val="B8C4E6"/>
                </a:solidFill>
                <a:latin typeface="Calibri" pitchFamily="34" charset="0"/>
                <a:ea typeface="Calibri" pitchFamily="34" charset="-122"/>
                <a:cs typeface="Calibri" pitchFamily="34" charset="-120"/>
              </a:rPr>
              <a:t>The agent never emits HTML. It sends a JSON description of the fields it needs (choice, date, text, number, confirm) with defaults and errors; web, mobile or CLI render it and send one shared answer shape back.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General knowledge with semantic search</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Ask in your own words; the answer is grounded in the company knowledge base</a:t>
            </a:r>
            <a:endParaRPr lang="en-US" sz="1600" dirty="0"/>
          </a:p>
        </p:txBody>
      </p:sp>
      <p:sp>
        <p:nvSpPr>
          <p:cNvPr id="4" name="Shape 2"/>
          <p:cNvSpPr/>
          <p:nvPr/>
        </p:nvSpPr>
        <p:spPr>
          <a:xfrm>
            <a:off x="1081196" y="1645920"/>
            <a:ext cx="5701447" cy="4754880"/>
          </a:xfrm>
          <a:prstGeom prst="roundRect">
            <a:avLst>
              <a:gd name="adj" fmla="val 2308"/>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5" name="Image 0" descr="C:\Users\HP\AppData\Local\Temp\claude\C--Projects-tunoo-crm-management\72c328e9-b7b3-480f-b6b2-1d6a61924830\scratchpad\deck\crops\rag.png"/>
          <p:cNvPicPr>
            <a:picLocks noChangeAspect="1"/>
          </p:cNvPicPr>
          <p:nvPr/>
        </p:nvPicPr>
        <p:blipFill>
          <a:blip r:embed="rId3"/>
          <a:stretch>
            <a:fillRect/>
          </a:stretch>
        </p:blipFill>
        <p:spPr>
          <a:xfrm>
            <a:off x="1154348" y="1719072"/>
            <a:ext cx="5555143" cy="4608576"/>
          </a:xfrm>
          <a:prstGeom prst="rect">
            <a:avLst/>
          </a:prstGeom>
        </p:spPr>
      </p:pic>
      <p:sp>
        <p:nvSpPr>
          <p:cNvPr id="6" name="Shape 3"/>
          <p:cNvSpPr/>
          <p:nvPr/>
        </p:nvSpPr>
        <p:spPr>
          <a:xfrm>
            <a:off x="7818120" y="1828800"/>
            <a:ext cx="475488" cy="475488"/>
          </a:xfrm>
          <a:prstGeom prst="ellipse">
            <a:avLst/>
          </a:prstGeom>
          <a:solidFill>
            <a:srgbClr val="0B5FFF"/>
          </a:solidFill>
          <a:ln w="12700">
            <a:solidFill>
              <a:srgbClr val="0B5FFF"/>
            </a:solidFill>
            <a:prstDash val="solid"/>
          </a:ln>
        </p:spPr>
        <p:txBody>
          <a:bodyPr/>
          <a:lstStyle/>
          <a:p>
            <a:endParaRPr lang="en-MY"/>
          </a:p>
        </p:txBody>
      </p:sp>
      <p:pic>
        <p:nvPicPr>
          <p:cNvPr id="7" name="Image 1" descr="preencoded.png"/>
          <p:cNvPicPr>
            <a:picLocks noChangeAspect="1"/>
          </p:cNvPicPr>
          <p:nvPr/>
        </p:nvPicPr>
        <p:blipFill>
          <a:blip r:embed="rId4"/>
          <a:stretch>
            <a:fillRect/>
          </a:stretch>
        </p:blipFill>
        <p:spPr>
          <a:xfrm>
            <a:off x="7941747" y="1952427"/>
            <a:ext cx="228234" cy="228234"/>
          </a:xfrm>
          <a:prstGeom prst="rect">
            <a:avLst/>
          </a:prstGeom>
        </p:spPr>
      </p:pic>
      <p:sp>
        <p:nvSpPr>
          <p:cNvPr id="8" name="Text 4"/>
          <p:cNvSpPr txBox="1"/>
          <p:nvPr/>
        </p:nvSpPr>
        <p:spPr>
          <a:xfrm>
            <a:off x="8476488" y="1773936"/>
            <a:ext cx="3273552" cy="1051560"/>
          </a:xfrm>
          <a:prstGeom prst="rect">
            <a:avLst/>
          </a:prstGeom>
          <a:noFill/>
          <a:ln/>
        </p:spPr>
        <p:txBody>
          <a:bodyPr wrap="square" lIns="0" tIns="0" rIns="0" bIns="0" rtlCol="0" anchor="t"/>
          <a:lstStyle/>
          <a:p>
            <a:pPr marL="0" indent="0">
              <a:spcAft>
                <a:spcPts val="200"/>
              </a:spcAft>
              <a:buNone/>
            </a:pPr>
            <a:r>
              <a:rPr lang="en-US" sz="1600" b="1" dirty="0">
                <a:solidFill>
                  <a:srgbClr val="0E1630"/>
                </a:solidFill>
                <a:latin typeface="Calibri" pitchFamily="34" charset="0"/>
                <a:ea typeface="Calibri" pitchFamily="34" charset="-122"/>
                <a:cs typeface="Calibri" pitchFamily="34" charset="-120"/>
              </a:rPr>
              <a:t>1. Embed the question</a:t>
            </a:r>
            <a:endParaRPr lang="en-US" sz="1600" dirty="0"/>
          </a:p>
          <a:p>
            <a:pPr marL="0" indent="0">
              <a:spcAft>
                <a:spcPts val="200"/>
              </a:spcAft>
              <a:buNone/>
            </a:pPr>
            <a:r>
              <a:rPr lang="en-US" sz="1300" dirty="0">
                <a:solidFill>
                  <a:srgbClr val="5B6478"/>
                </a:solidFill>
                <a:latin typeface="Calibri" pitchFamily="34" charset="0"/>
                <a:ea typeface="Calibri" pitchFamily="34" charset="-122"/>
                <a:cs typeface="Calibri" pitchFamily="34" charset="-120"/>
              </a:rPr>
              <a:t>multilingual-e5-small via the TEI service; works across languages</a:t>
            </a:r>
            <a:endParaRPr lang="en-US" sz="1600" dirty="0"/>
          </a:p>
        </p:txBody>
      </p:sp>
      <p:sp>
        <p:nvSpPr>
          <p:cNvPr id="9" name="Shape 5"/>
          <p:cNvSpPr/>
          <p:nvPr/>
        </p:nvSpPr>
        <p:spPr>
          <a:xfrm>
            <a:off x="7818120" y="2926080"/>
            <a:ext cx="475488" cy="475488"/>
          </a:xfrm>
          <a:prstGeom prst="ellipse">
            <a:avLst/>
          </a:prstGeom>
          <a:solidFill>
            <a:srgbClr val="0B5FFF"/>
          </a:solidFill>
          <a:ln w="12700">
            <a:solidFill>
              <a:srgbClr val="0B5FFF"/>
            </a:solidFill>
            <a:prstDash val="solid"/>
          </a:ln>
        </p:spPr>
        <p:txBody>
          <a:bodyPr/>
          <a:lstStyle/>
          <a:p>
            <a:endParaRPr lang="en-MY"/>
          </a:p>
        </p:txBody>
      </p:sp>
      <p:pic>
        <p:nvPicPr>
          <p:cNvPr id="10" name="Image 2" descr="preencoded.png"/>
          <p:cNvPicPr>
            <a:picLocks noChangeAspect="1"/>
          </p:cNvPicPr>
          <p:nvPr/>
        </p:nvPicPr>
        <p:blipFill>
          <a:blip r:embed="rId5"/>
          <a:stretch>
            <a:fillRect/>
          </a:stretch>
        </p:blipFill>
        <p:spPr>
          <a:xfrm>
            <a:off x="7941747" y="3049707"/>
            <a:ext cx="228234" cy="228234"/>
          </a:xfrm>
          <a:prstGeom prst="rect">
            <a:avLst/>
          </a:prstGeom>
        </p:spPr>
      </p:pic>
      <p:sp>
        <p:nvSpPr>
          <p:cNvPr id="11" name="Text 6"/>
          <p:cNvSpPr txBox="1"/>
          <p:nvPr/>
        </p:nvSpPr>
        <p:spPr>
          <a:xfrm>
            <a:off x="8476488" y="2871216"/>
            <a:ext cx="3273552" cy="1051560"/>
          </a:xfrm>
          <a:prstGeom prst="rect">
            <a:avLst/>
          </a:prstGeom>
          <a:noFill/>
          <a:ln/>
        </p:spPr>
        <p:txBody>
          <a:bodyPr wrap="square" lIns="0" tIns="0" rIns="0" bIns="0" rtlCol="0" anchor="t"/>
          <a:lstStyle/>
          <a:p>
            <a:pPr marL="0" indent="0">
              <a:spcAft>
                <a:spcPts val="200"/>
              </a:spcAft>
              <a:buNone/>
            </a:pPr>
            <a:r>
              <a:rPr lang="en-US" sz="1600" b="1" dirty="0">
                <a:solidFill>
                  <a:srgbClr val="0E1630"/>
                </a:solidFill>
                <a:latin typeface="Calibri" pitchFamily="34" charset="0"/>
                <a:ea typeface="Calibri" pitchFamily="34" charset="-122"/>
                <a:cs typeface="Calibri" pitchFamily="34" charset="-120"/>
              </a:rPr>
              <a:t>2. Vector search</a:t>
            </a:r>
            <a:endParaRPr lang="en-US" sz="1600" dirty="0"/>
          </a:p>
          <a:p>
            <a:pPr marL="0" indent="0">
              <a:spcAft>
                <a:spcPts val="200"/>
              </a:spcAft>
              <a:buNone/>
            </a:pPr>
            <a:r>
              <a:rPr lang="en-US" sz="1300" dirty="0">
                <a:solidFill>
                  <a:srgbClr val="5B6478"/>
                </a:solidFill>
                <a:latin typeface="Calibri" pitchFamily="34" charset="0"/>
                <a:ea typeface="Calibri" pitchFamily="34" charset="-122"/>
                <a:cs typeface="Calibri" pitchFamily="34" charset="-120"/>
              </a:rPr>
              <a:t>Top-3 closest chunks from Milvus, not keyword matching</a:t>
            </a:r>
            <a:endParaRPr lang="en-US" sz="1600" dirty="0"/>
          </a:p>
        </p:txBody>
      </p:sp>
      <p:sp>
        <p:nvSpPr>
          <p:cNvPr id="12" name="Shape 7"/>
          <p:cNvSpPr/>
          <p:nvPr/>
        </p:nvSpPr>
        <p:spPr>
          <a:xfrm>
            <a:off x="7818120" y="4023360"/>
            <a:ext cx="475488" cy="475488"/>
          </a:xfrm>
          <a:prstGeom prst="ellipse">
            <a:avLst/>
          </a:prstGeom>
          <a:solidFill>
            <a:srgbClr val="14B8A6"/>
          </a:solidFill>
          <a:ln w="12700">
            <a:solidFill>
              <a:srgbClr val="14B8A6"/>
            </a:solidFill>
            <a:prstDash val="solid"/>
          </a:ln>
        </p:spPr>
        <p:txBody>
          <a:bodyPr/>
          <a:lstStyle/>
          <a:p>
            <a:endParaRPr lang="en-MY"/>
          </a:p>
        </p:txBody>
      </p:sp>
      <p:pic>
        <p:nvPicPr>
          <p:cNvPr id="13" name="Image 3" descr="preencoded.png"/>
          <p:cNvPicPr>
            <a:picLocks noChangeAspect="1"/>
          </p:cNvPicPr>
          <p:nvPr/>
        </p:nvPicPr>
        <p:blipFill>
          <a:blip r:embed="rId6"/>
          <a:stretch>
            <a:fillRect/>
          </a:stretch>
        </p:blipFill>
        <p:spPr>
          <a:xfrm>
            <a:off x="7941747" y="4146987"/>
            <a:ext cx="228234" cy="228234"/>
          </a:xfrm>
          <a:prstGeom prst="rect">
            <a:avLst/>
          </a:prstGeom>
        </p:spPr>
      </p:pic>
      <p:sp>
        <p:nvSpPr>
          <p:cNvPr id="14" name="Text 8"/>
          <p:cNvSpPr txBox="1"/>
          <p:nvPr/>
        </p:nvSpPr>
        <p:spPr>
          <a:xfrm>
            <a:off x="8476488" y="3968496"/>
            <a:ext cx="3273552" cy="1051560"/>
          </a:xfrm>
          <a:prstGeom prst="rect">
            <a:avLst/>
          </a:prstGeom>
          <a:noFill/>
          <a:ln/>
        </p:spPr>
        <p:txBody>
          <a:bodyPr wrap="square" lIns="0" tIns="0" rIns="0" bIns="0" rtlCol="0" anchor="t"/>
          <a:lstStyle/>
          <a:p>
            <a:pPr marL="0" indent="0">
              <a:spcAft>
                <a:spcPts val="200"/>
              </a:spcAft>
              <a:buNone/>
            </a:pPr>
            <a:r>
              <a:rPr lang="en-US" sz="1600" b="1" dirty="0">
                <a:solidFill>
                  <a:srgbClr val="0E1630"/>
                </a:solidFill>
                <a:latin typeface="Calibri" pitchFamily="34" charset="0"/>
                <a:ea typeface="Calibri" pitchFamily="34" charset="-122"/>
                <a:cs typeface="Calibri" pitchFamily="34" charset="-120"/>
              </a:rPr>
              <a:t>3. Grounded answer</a:t>
            </a:r>
            <a:endParaRPr lang="en-US" sz="1600" dirty="0"/>
          </a:p>
          <a:p>
            <a:pPr marL="0" indent="0">
              <a:spcAft>
                <a:spcPts val="200"/>
              </a:spcAft>
              <a:buNone/>
            </a:pPr>
            <a:r>
              <a:rPr lang="en-US" sz="1300" dirty="0">
                <a:solidFill>
                  <a:srgbClr val="5B6478"/>
                </a:solidFill>
                <a:latin typeface="Calibri" pitchFamily="34" charset="0"/>
                <a:ea typeface="Calibri" pitchFamily="34" charset="-122"/>
                <a:cs typeface="Calibri" pitchFamily="34" charset="-120"/>
              </a:rPr>
              <a:t>The excerpts are injected as context, so the model answers from sources</a:t>
            </a:r>
            <a:endParaRPr lang="en-US" sz="1600" dirty="0"/>
          </a:p>
        </p:txBody>
      </p:sp>
      <p:sp>
        <p:nvSpPr>
          <p:cNvPr id="15" name="Shape 9"/>
          <p:cNvSpPr/>
          <p:nvPr/>
        </p:nvSpPr>
        <p:spPr>
          <a:xfrm>
            <a:off x="7818120" y="5120640"/>
            <a:ext cx="475488" cy="475488"/>
          </a:xfrm>
          <a:prstGeom prst="ellipse">
            <a:avLst/>
          </a:prstGeom>
          <a:solidFill>
            <a:srgbClr val="F59E0B"/>
          </a:solidFill>
          <a:ln w="12700">
            <a:solidFill>
              <a:srgbClr val="F59E0B"/>
            </a:solidFill>
            <a:prstDash val="solid"/>
          </a:ln>
        </p:spPr>
        <p:txBody>
          <a:bodyPr/>
          <a:lstStyle/>
          <a:p>
            <a:endParaRPr lang="en-MY"/>
          </a:p>
        </p:txBody>
      </p:sp>
      <p:pic>
        <p:nvPicPr>
          <p:cNvPr id="16" name="Image 4" descr="preencoded.png"/>
          <p:cNvPicPr>
            <a:picLocks noChangeAspect="1"/>
          </p:cNvPicPr>
          <p:nvPr/>
        </p:nvPicPr>
        <p:blipFill>
          <a:blip r:embed="rId7"/>
          <a:stretch>
            <a:fillRect/>
          </a:stretch>
        </p:blipFill>
        <p:spPr>
          <a:xfrm>
            <a:off x="7941747" y="5244267"/>
            <a:ext cx="228234" cy="228234"/>
          </a:xfrm>
          <a:prstGeom prst="rect">
            <a:avLst/>
          </a:prstGeom>
        </p:spPr>
      </p:pic>
      <p:sp>
        <p:nvSpPr>
          <p:cNvPr id="17" name="Text 10"/>
          <p:cNvSpPr txBox="1"/>
          <p:nvPr/>
        </p:nvSpPr>
        <p:spPr>
          <a:xfrm>
            <a:off x="8476488" y="5065776"/>
            <a:ext cx="3273552" cy="1051560"/>
          </a:xfrm>
          <a:prstGeom prst="rect">
            <a:avLst/>
          </a:prstGeom>
          <a:noFill/>
          <a:ln/>
        </p:spPr>
        <p:txBody>
          <a:bodyPr wrap="square" lIns="0" tIns="0" rIns="0" bIns="0" rtlCol="0" anchor="t"/>
          <a:lstStyle/>
          <a:p>
            <a:pPr marL="0" indent="0">
              <a:spcAft>
                <a:spcPts val="200"/>
              </a:spcAft>
              <a:buNone/>
            </a:pPr>
            <a:r>
              <a:rPr lang="en-US" sz="1600" b="1" dirty="0">
                <a:solidFill>
                  <a:srgbClr val="0E1630"/>
                </a:solidFill>
                <a:latin typeface="Calibri" pitchFamily="34" charset="0"/>
                <a:ea typeface="Calibri" pitchFamily="34" charset="-122"/>
                <a:cs typeface="Calibri" pitchFamily="34" charset="-120"/>
              </a:rPr>
              <a:t>Graceful degradation</a:t>
            </a:r>
            <a:endParaRPr lang="en-US" sz="1600" dirty="0"/>
          </a:p>
          <a:p>
            <a:pPr marL="0" indent="0">
              <a:spcAft>
                <a:spcPts val="200"/>
              </a:spcAft>
              <a:buNone/>
            </a:pPr>
            <a:r>
              <a:rPr lang="en-US" sz="1300" dirty="0">
                <a:solidFill>
                  <a:srgbClr val="5B6478"/>
                </a:solidFill>
                <a:latin typeface="Calibri" pitchFamily="34" charset="0"/>
                <a:ea typeface="Calibri" pitchFamily="34" charset="-122"/>
                <a:cs typeface="Calibri" pitchFamily="34" charset="-120"/>
              </a:rPr>
              <a:t>If Milvus or TEI is down the chat still works, just without RAG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Exact data, not guesses</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Precise questions call live tools and get back real numbers from the database</a:t>
            </a:r>
            <a:endParaRPr lang="en-US" sz="1600" dirty="0"/>
          </a:p>
        </p:txBody>
      </p:sp>
      <p:sp>
        <p:nvSpPr>
          <p:cNvPr id="4" name="Shape 2"/>
          <p:cNvSpPr/>
          <p:nvPr/>
        </p:nvSpPr>
        <p:spPr>
          <a:xfrm>
            <a:off x="799834" y="1645920"/>
            <a:ext cx="4161051" cy="1828800"/>
          </a:xfrm>
          <a:prstGeom prst="roundRect">
            <a:avLst>
              <a:gd name="adj" fmla="val 6000"/>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5" name="Image 0" descr="C:\Users\HP\AppData\Local\Temp\claude\C--Projects-tunoo-crm-management\72c328e9-b7b3-480f-b6b2-1d6a61924830\scratchpad\deck\crops\balance.png"/>
          <p:cNvPicPr>
            <a:picLocks noChangeAspect="1"/>
          </p:cNvPicPr>
          <p:nvPr/>
        </p:nvPicPr>
        <p:blipFill>
          <a:blip r:embed="rId3"/>
          <a:stretch>
            <a:fillRect/>
          </a:stretch>
        </p:blipFill>
        <p:spPr>
          <a:xfrm>
            <a:off x="872986" y="1719072"/>
            <a:ext cx="4014747" cy="1682496"/>
          </a:xfrm>
          <a:prstGeom prst="rect">
            <a:avLst/>
          </a:prstGeom>
        </p:spPr>
      </p:pic>
      <p:sp>
        <p:nvSpPr>
          <p:cNvPr id="6" name="Shape 3"/>
          <p:cNvSpPr/>
          <p:nvPr/>
        </p:nvSpPr>
        <p:spPr>
          <a:xfrm>
            <a:off x="5830727" y="1645920"/>
            <a:ext cx="5666427" cy="4754880"/>
          </a:xfrm>
          <a:prstGeom prst="roundRect">
            <a:avLst>
              <a:gd name="adj" fmla="val 2308"/>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7" name="Image 1" descr="C:\Users\HP\AppData\Local\Temp\claude\C--Projects-tunoo-crm-management\72c328e9-b7b3-480f-b6b2-1d6a61924830\scratchpad\deck\crops\transactions.png"/>
          <p:cNvPicPr>
            <a:picLocks noChangeAspect="1"/>
          </p:cNvPicPr>
          <p:nvPr/>
        </p:nvPicPr>
        <p:blipFill>
          <a:blip r:embed="rId4"/>
          <a:stretch>
            <a:fillRect/>
          </a:stretch>
        </p:blipFill>
        <p:spPr>
          <a:xfrm>
            <a:off x="5903879" y="1719072"/>
            <a:ext cx="5520123" cy="4608576"/>
          </a:xfrm>
          <a:prstGeom prst="rect">
            <a:avLst/>
          </a:prstGeom>
        </p:spPr>
      </p:pic>
      <p:sp>
        <p:nvSpPr>
          <p:cNvPr id="8" name="Shape 4"/>
          <p:cNvSpPr/>
          <p:nvPr/>
        </p:nvSpPr>
        <p:spPr>
          <a:xfrm>
            <a:off x="457200" y="3840480"/>
            <a:ext cx="4846320" cy="2560320"/>
          </a:xfrm>
          <a:prstGeom prst="roundRect">
            <a:avLst>
              <a:gd name="adj" fmla="val 5000"/>
            </a:avLst>
          </a:prstGeom>
          <a:solidFill>
            <a:srgbClr val="FFFFFF"/>
          </a:solidFill>
          <a:ln w="9525">
            <a:solidFill>
              <a:srgbClr val="E3E7F0"/>
            </a:solidFill>
            <a:prstDash val="solid"/>
          </a:ln>
        </p:spPr>
        <p:txBody>
          <a:bodyPr/>
          <a:lstStyle/>
          <a:p>
            <a:endParaRPr lang="en-MY"/>
          </a:p>
        </p:txBody>
      </p:sp>
      <p:sp>
        <p:nvSpPr>
          <p:cNvPr id="9" name="Text 5"/>
          <p:cNvSpPr txBox="1"/>
          <p:nvPr/>
        </p:nvSpPr>
        <p:spPr>
          <a:xfrm>
            <a:off x="731520" y="4023360"/>
            <a:ext cx="4389120" cy="822960"/>
          </a:xfrm>
          <a:prstGeom prst="rect">
            <a:avLst/>
          </a:prstGeom>
          <a:noFill/>
          <a:ln/>
        </p:spPr>
        <p:txBody>
          <a:bodyPr wrap="square" lIns="0" tIns="0" rIns="0" bIns="0" rtlCol="0" anchor="ctr"/>
          <a:lstStyle/>
          <a:p>
            <a:pPr marL="0" indent="0">
              <a:buNone/>
            </a:pPr>
            <a:r>
              <a:rPr lang="en-US" sz="4400" b="1" dirty="0">
                <a:solidFill>
                  <a:srgbClr val="14B8A6"/>
                </a:solidFill>
                <a:latin typeface="Calibri" pitchFamily="34" charset="0"/>
                <a:ea typeface="Calibri" pitchFamily="34" charset="-122"/>
                <a:cs typeface="Calibri" pitchFamily="34" charset="-120"/>
              </a:rPr>
              <a:t>10,000.00 MYR</a:t>
            </a:r>
            <a:endParaRPr lang="en-US" sz="4400" dirty="0"/>
          </a:p>
        </p:txBody>
      </p:sp>
      <p:sp>
        <p:nvSpPr>
          <p:cNvPr id="10" name="Text 6"/>
          <p:cNvSpPr txBox="1"/>
          <p:nvPr/>
        </p:nvSpPr>
        <p:spPr>
          <a:xfrm>
            <a:off x="731520" y="4846320"/>
            <a:ext cx="4297680" cy="54864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returned by get_balance, read directly from PostgreSQL through the Budget API</a:t>
            </a:r>
            <a:endParaRPr lang="en-US" sz="1300" dirty="0"/>
          </a:p>
        </p:txBody>
      </p:sp>
      <p:sp>
        <p:nvSpPr>
          <p:cNvPr id="11" name="Text 7"/>
          <p:cNvSpPr txBox="1"/>
          <p:nvPr/>
        </p:nvSpPr>
        <p:spPr>
          <a:xfrm>
            <a:off x="731520" y="5486400"/>
            <a:ext cx="4297680" cy="731520"/>
          </a:xfrm>
          <a:prstGeom prst="rect">
            <a:avLst/>
          </a:prstGeom>
          <a:noFill/>
          <a:ln/>
        </p:spPr>
        <p:txBody>
          <a:bodyPr wrap="square" lIns="0" tIns="0" rIns="0" bIns="0" rtlCol="0" anchor="ctr"/>
          <a:lstStyle/>
          <a:p>
            <a:pPr marL="0" indent="0">
              <a:buNone/>
            </a:pPr>
            <a:r>
              <a:rPr lang="en-US" sz="1300" b="1" dirty="0">
                <a:solidFill>
                  <a:srgbClr val="0E1630"/>
                </a:solidFill>
                <a:latin typeface="Calibri" pitchFamily="34" charset="0"/>
                <a:ea typeface="Calibri" pitchFamily="34" charset="-122"/>
                <a:cs typeface="Calibri" pitchFamily="34" charset="-120"/>
              </a:rPr>
              <a:t>Tables are formatted by code, not by the model, so rows and amounts are never re-typed or invented.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Budgets and assets at a glance</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"show my budgets" · "show my assets": same pattern, different data</a:t>
            </a:r>
            <a:endParaRPr lang="en-US" sz="1600" dirty="0"/>
          </a:p>
        </p:txBody>
      </p:sp>
      <p:sp>
        <p:nvSpPr>
          <p:cNvPr id="4" name="Shape 2"/>
          <p:cNvSpPr/>
          <p:nvPr/>
        </p:nvSpPr>
        <p:spPr>
          <a:xfrm>
            <a:off x="457200" y="2017521"/>
            <a:ext cx="5577840" cy="3280157"/>
          </a:xfrm>
          <a:prstGeom prst="roundRect">
            <a:avLst>
              <a:gd name="adj" fmla="val 3345"/>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5" name="Image 0" descr="C:\Users\HP\AppData\Local\Temp\claude\C--Projects-tunoo-crm-management\72c328e9-b7b3-480f-b6b2-1d6a61924830\scratchpad\deck\crops\budgets.png"/>
          <p:cNvPicPr>
            <a:picLocks noChangeAspect="1"/>
          </p:cNvPicPr>
          <p:nvPr/>
        </p:nvPicPr>
        <p:blipFill>
          <a:blip r:embed="rId3"/>
          <a:stretch>
            <a:fillRect/>
          </a:stretch>
        </p:blipFill>
        <p:spPr>
          <a:xfrm>
            <a:off x="530352" y="2090673"/>
            <a:ext cx="5431536" cy="3133853"/>
          </a:xfrm>
          <a:prstGeom prst="rect">
            <a:avLst/>
          </a:prstGeom>
        </p:spPr>
      </p:pic>
      <p:sp>
        <p:nvSpPr>
          <p:cNvPr id="6" name="Shape 3"/>
          <p:cNvSpPr/>
          <p:nvPr/>
        </p:nvSpPr>
        <p:spPr>
          <a:xfrm>
            <a:off x="6172200" y="1885306"/>
            <a:ext cx="5577840" cy="3544587"/>
          </a:xfrm>
          <a:prstGeom prst="roundRect">
            <a:avLst>
              <a:gd name="adj" fmla="val 3096"/>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7" name="Image 1" descr="C:\Users\HP\AppData\Local\Temp\claude\C--Projects-tunoo-crm-management\72c328e9-b7b3-480f-b6b2-1d6a61924830\scratchpad\deck\crops\assets.png"/>
          <p:cNvPicPr>
            <a:picLocks noChangeAspect="1"/>
          </p:cNvPicPr>
          <p:nvPr/>
        </p:nvPicPr>
        <p:blipFill>
          <a:blip r:embed="rId4"/>
          <a:stretch>
            <a:fillRect/>
          </a:stretch>
        </p:blipFill>
        <p:spPr>
          <a:xfrm>
            <a:off x="6245352" y="1958458"/>
            <a:ext cx="5431536" cy="3398283"/>
          </a:xfrm>
          <a:prstGeom prst="rect">
            <a:avLst/>
          </a:prstGeom>
        </p:spPr>
      </p:pic>
      <p:sp>
        <p:nvSpPr>
          <p:cNvPr id="8" name="Shape 4"/>
          <p:cNvSpPr/>
          <p:nvPr/>
        </p:nvSpPr>
        <p:spPr>
          <a:xfrm>
            <a:off x="822960" y="5897880"/>
            <a:ext cx="47548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9" name="Text 5"/>
          <p:cNvSpPr txBox="1"/>
          <p:nvPr/>
        </p:nvSpPr>
        <p:spPr>
          <a:xfrm>
            <a:off x="822960" y="5897880"/>
            <a:ext cx="47548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Category limits per week / month / year</a:t>
            </a:r>
            <a:endParaRPr lang="en-US" sz="1200" dirty="0"/>
          </a:p>
        </p:txBody>
      </p:sp>
      <p:sp>
        <p:nvSpPr>
          <p:cNvPr id="10" name="Shape 6"/>
          <p:cNvSpPr/>
          <p:nvPr/>
        </p:nvSpPr>
        <p:spPr>
          <a:xfrm>
            <a:off x="6583680" y="5897880"/>
            <a:ext cx="4754880" cy="347472"/>
          </a:xfrm>
          <a:prstGeom prst="roundRect">
            <a:avLst>
              <a:gd name="adj" fmla="val 50000"/>
            </a:avLst>
          </a:prstGeom>
          <a:solidFill>
            <a:srgbClr val="D5F5F0"/>
          </a:solidFill>
          <a:ln w="12700">
            <a:solidFill>
              <a:srgbClr val="D5F5F0"/>
            </a:solidFill>
            <a:prstDash val="solid"/>
          </a:ln>
        </p:spPr>
        <p:txBody>
          <a:bodyPr/>
          <a:lstStyle/>
          <a:p>
            <a:endParaRPr lang="en-MY"/>
          </a:p>
        </p:txBody>
      </p:sp>
      <p:sp>
        <p:nvSpPr>
          <p:cNvPr id="11" name="Text 7"/>
          <p:cNvSpPr txBox="1"/>
          <p:nvPr/>
        </p:nvSpPr>
        <p:spPr>
          <a:xfrm>
            <a:off x="6583680" y="5897880"/>
            <a:ext cx="4754880" cy="347472"/>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Owned items with purchase value and totals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630"/>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Say it, and the right form opens</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B8C4E6"/>
                </a:solidFill>
                <a:latin typeface="Calibri" pitchFamily="34" charset="0"/>
                <a:ea typeface="Calibri" pitchFamily="34" charset="-122"/>
                <a:cs typeface="Calibri" pitchFamily="34" charset="-120"/>
              </a:rPr>
              <a:t>The agent fills in what it understood; you complete the rest and press Save</a:t>
            </a:r>
            <a:endParaRPr lang="en-US" sz="1600" dirty="0"/>
          </a:p>
        </p:txBody>
      </p:sp>
      <p:sp>
        <p:nvSpPr>
          <p:cNvPr id="4" name="Shape 2"/>
          <p:cNvSpPr/>
          <p:nvPr/>
        </p:nvSpPr>
        <p:spPr>
          <a:xfrm>
            <a:off x="548640" y="1783080"/>
            <a:ext cx="5577840" cy="457200"/>
          </a:xfrm>
          <a:prstGeom prst="roundRect">
            <a:avLst>
              <a:gd name="adj" fmla="val 50000"/>
            </a:avLst>
          </a:prstGeom>
          <a:solidFill>
            <a:srgbClr val="0B5FFF"/>
          </a:solidFill>
          <a:ln w="12700">
            <a:solidFill>
              <a:srgbClr val="0B5FFF"/>
            </a:solidFill>
            <a:prstDash val="solid"/>
          </a:ln>
        </p:spPr>
        <p:txBody>
          <a:bodyPr/>
          <a:lstStyle/>
          <a:p>
            <a:endParaRPr lang="en-MY"/>
          </a:p>
        </p:txBody>
      </p:sp>
      <p:sp>
        <p:nvSpPr>
          <p:cNvPr id="5" name="Text 3"/>
          <p:cNvSpPr txBox="1"/>
          <p:nvPr/>
        </p:nvSpPr>
        <p:spPr>
          <a:xfrm>
            <a:off x="685800" y="1783080"/>
            <a:ext cx="5303520" cy="457200"/>
          </a:xfrm>
          <a:prstGeom prst="rect">
            <a:avLst/>
          </a:prstGeom>
          <a:noFill/>
          <a:ln/>
        </p:spPr>
        <p:txBody>
          <a:bodyPr wrap="square" lIns="0" tIns="0" rIns="0" bIns="0"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“today I bought a new iPhone, add it to my assets”</a:t>
            </a:r>
            <a:endParaRPr lang="en-US" sz="1400" dirty="0"/>
          </a:p>
        </p:txBody>
      </p:sp>
      <p:sp>
        <p:nvSpPr>
          <p:cNvPr id="6" name="Shape 4"/>
          <p:cNvSpPr/>
          <p:nvPr/>
        </p:nvSpPr>
        <p:spPr>
          <a:xfrm>
            <a:off x="8145813" y="1554480"/>
            <a:ext cx="2087813" cy="5029200"/>
          </a:xfrm>
          <a:prstGeom prst="roundRect">
            <a:avLst>
              <a:gd name="adj" fmla="val 5256"/>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7" name="Image 0" descr="C:\Users\HP\AppData\Local\Temp\claude\C--Projects-tunoo-crm-management\72c328e9-b7b3-480f-b6b2-1d6a61924830\scratchpad\deck\crops\sheet_phone.png"/>
          <p:cNvPicPr>
            <a:picLocks noChangeAspect="1"/>
          </p:cNvPicPr>
          <p:nvPr/>
        </p:nvPicPr>
        <p:blipFill>
          <a:blip r:embed="rId3"/>
          <a:stretch>
            <a:fillRect/>
          </a:stretch>
        </p:blipFill>
        <p:spPr>
          <a:xfrm>
            <a:off x="8218965" y="1627632"/>
            <a:ext cx="1941509" cy="4882896"/>
          </a:xfrm>
          <a:prstGeom prst="rect">
            <a:avLst/>
          </a:prstGeom>
        </p:spPr>
      </p:pic>
      <p:sp>
        <p:nvSpPr>
          <p:cNvPr id="8" name="Shape 5"/>
          <p:cNvSpPr/>
          <p:nvPr/>
        </p:nvSpPr>
        <p:spPr>
          <a:xfrm>
            <a:off x="548640" y="2606040"/>
            <a:ext cx="5577840" cy="1005840"/>
          </a:xfrm>
          <a:prstGeom prst="roundRect">
            <a:avLst>
              <a:gd name="adj" fmla="val 10909"/>
            </a:avLst>
          </a:prstGeom>
          <a:solidFill>
            <a:srgbClr val="1A2550"/>
          </a:solidFill>
          <a:ln w="19050">
            <a:solidFill>
              <a:srgbClr val="14B8A6"/>
            </a:solidFill>
            <a:prstDash val="solid"/>
          </a:ln>
        </p:spPr>
        <p:txBody>
          <a:bodyPr/>
          <a:lstStyle/>
          <a:p>
            <a:endParaRPr lang="en-MY"/>
          </a:p>
        </p:txBody>
      </p:sp>
      <p:sp>
        <p:nvSpPr>
          <p:cNvPr id="9" name="Text 6"/>
          <p:cNvSpPr txBox="1"/>
          <p:nvPr/>
        </p:nvSpPr>
        <p:spPr>
          <a:xfrm>
            <a:off x="777240" y="2651760"/>
            <a:ext cx="5212080" cy="914400"/>
          </a:xfrm>
          <a:prstGeom prst="rect">
            <a:avLst/>
          </a:prstGeom>
          <a:noFill/>
          <a:ln/>
        </p:spPr>
        <p:txBody>
          <a:bodyPr wrap="square" lIns="0" tIns="0" rIns="0" bIns="0" rtlCol="0" anchor="ctr"/>
          <a:lstStyle/>
          <a:p>
            <a:pPr marL="0" indent="0">
              <a:buNone/>
            </a:pPr>
            <a:r>
              <a:rPr lang="en-US" sz="1600" b="1" dirty="0">
                <a:solidFill>
                  <a:srgbClr val="14B8A6"/>
                </a:solidFill>
                <a:latin typeface="Calibri" pitchFamily="34" charset="0"/>
                <a:ea typeface="Calibri" pitchFamily="34" charset="-122"/>
                <a:cs typeface="Calibri" pitchFamily="34" charset="-120"/>
              </a:rPr>
              <a:t>Filled by the agent</a:t>
            </a:r>
            <a:endParaRPr lang="en-US" sz="1600" dirty="0"/>
          </a:p>
          <a:p>
            <a:pPr marL="0" indent="0">
              <a:buNone/>
            </a:pPr>
            <a:r>
              <a:rPr lang="en-US" sz="1300" dirty="0">
                <a:solidFill>
                  <a:srgbClr val="D5DCF0"/>
                </a:solidFill>
                <a:latin typeface="Calibri" pitchFamily="34" charset="0"/>
                <a:ea typeface="Calibri" pitchFamily="34" charset="-122"/>
                <a:cs typeface="Calibri" pitchFamily="34" charset="-120"/>
              </a:rPr>
              <a:t>Item = iPhone · Category = Electronics · Date = today · Currency = MYR</a:t>
            </a:r>
            <a:endParaRPr lang="en-US" sz="1600" dirty="0"/>
          </a:p>
        </p:txBody>
      </p:sp>
      <p:sp>
        <p:nvSpPr>
          <p:cNvPr id="10" name="Shape 7"/>
          <p:cNvSpPr/>
          <p:nvPr/>
        </p:nvSpPr>
        <p:spPr>
          <a:xfrm>
            <a:off x="548640" y="3794760"/>
            <a:ext cx="5577840" cy="1005840"/>
          </a:xfrm>
          <a:prstGeom prst="roundRect">
            <a:avLst>
              <a:gd name="adj" fmla="val 10909"/>
            </a:avLst>
          </a:prstGeom>
          <a:solidFill>
            <a:srgbClr val="1A2550"/>
          </a:solidFill>
          <a:ln w="19050">
            <a:solidFill>
              <a:srgbClr val="F59E0B"/>
            </a:solidFill>
            <a:prstDash val="solid"/>
          </a:ln>
        </p:spPr>
        <p:txBody>
          <a:bodyPr/>
          <a:lstStyle/>
          <a:p>
            <a:endParaRPr lang="en-MY"/>
          </a:p>
        </p:txBody>
      </p:sp>
      <p:sp>
        <p:nvSpPr>
          <p:cNvPr id="11" name="Text 8"/>
          <p:cNvSpPr txBox="1"/>
          <p:nvPr/>
        </p:nvSpPr>
        <p:spPr>
          <a:xfrm>
            <a:off x="777240" y="3840480"/>
            <a:ext cx="5212080" cy="91440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Left for you</a:t>
            </a:r>
            <a:endParaRPr lang="en-US" sz="1600" dirty="0"/>
          </a:p>
          <a:p>
            <a:pPr marL="0" indent="0">
              <a:buNone/>
            </a:pPr>
            <a:r>
              <a:rPr lang="en-US" sz="1300" dirty="0">
                <a:solidFill>
                  <a:srgbClr val="D5DCF0"/>
                </a:solidFill>
                <a:latin typeface="Calibri" pitchFamily="34" charset="0"/>
                <a:ea typeface="Calibri" pitchFamily="34" charset="-122"/>
                <a:cs typeface="Calibri" pitchFamily="34" charset="-120"/>
              </a:rPr>
              <a:t>Purchase price (never invented by the model) · optional note</a:t>
            </a:r>
            <a:endParaRPr lang="en-US" sz="1600" dirty="0"/>
          </a:p>
        </p:txBody>
      </p:sp>
      <p:sp>
        <p:nvSpPr>
          <p:cNvPr id="12" name="Shape 9"/>
          <p:cNvSpPr/>
          <p:nvPr/>
        </p:nvSpPr>
        <p:spPr>
          <a:xfrm>
            <a:off x="548640" y="4983480"/>
            <a:ext cx="5577840" cy="1005840"/>
          </a:xfrm>
          <a:prstGeom prst="roundRect">
            <a:avLst>
              <a:gd name="adj" fmla="val 10909"/>
            </a:avLst>
          </a:prstGeom>
          <a:solidFill>
            <a:srgbClr val="1A2550"/>
          </a:solidFill>
          <a:ln w="19050">
            <a:solidFill>
              <a:srgbClr val="0B5FFF"/>
            </a:solidFill>
            <a:prstDash val="solid"/>
          </a:ln>
        </p:spPr>
        <p:txBody>
          <a:bodyPr/>
          <a:lstStyle/>
          <a:p>
            <a:endParaRPr lang="en-MY"/>
          </a:p>
        </p:txBody>
      </p:sp>
      <p:sp>
        <p:nvSpPr>
          <p:cNvPr id="13" name="Text 10"/>
          <p:cNvSpPr txBox="1"/>
          <p:nvPr/>
        </p:nvSpPr>
        <p:spPr>
          <a:xfrm>
            <a:off x="777240" y="5029200"/>
            <a:ext cx="5212080" cy="914400"/>
          </a:xfrm>
          <a:prstGeom prst="rect">
            <a:avLst/>
          </a:prstGeom>
          <a:noFill/>
          <a:ln/>
        </p:spPr>
        <p:txBody>
          <a:bodyPr wrap="square" lIns="0" tIns="0" rIns="0" bIns="0" rtlCol="0" anchor="ctr"/>
          <a:lstStyle/>
          <a:p>
            <a:pPr marL="0" indent="0">
              <a:buNone/>
            </a:pPr>
            <a:r>
              <a:rPr lang="en-US" sz="1600" b="1" dirty="0">
                <a:solidFill>
                  <a:srgbClr val="0B5FFF"/>
                </a:solidFill>
                <a:latin typeface="Calibri" pitchFamily="34" charset="0"/>
                <a:ea typeface="Calibri" pitchFamily="34" charset="-122"/>
                <a:cs typeface="Calibri" pitchFamily="34" charset="-120"/>
              </a:rPr>
              <a:t>One more choice</a:t>
            </a:r>
            <a:endParaRPr lang="en-US" sz="1600" dirty="0"/>
          </a:p>
          <a:p>
            <a:pPr marL="0" indent="0">
              <a:buNone/>
            </a:pPr>
            <a:r>
              <a:rPr lang="en-US" sz="1300" dirty="0">
                <a:solidFill>
                  <a:srgbClr val="D5DCF0"/>
                </a:solidFill>
                <a:latin typeface="Calibri" pitchFamily="34" charset="0"/>
                <a:ea typeface="Calibri" pitchFamily="34" charset="-122"/>
                <a:cs typeface="Calibri" pitchFamily="34" charset="-120"/>
              </a:rPr>
              <a:t>“Also record the price as an expense?” keeps the balance in sync</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Every financial entry, from one sentence</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The same bottom-sheet engine renders expense, income and budget forms</a:t>
            </a:r>
            <a:endParaRPr lang="en-US" sz="1600" dirty="0"/>
          </a:p>
        </p:txBody>
      </p:sp>
      <p:sp>
        <p:nvSpPr>
          <p:cNvPr id="4" name="Text 2"/>
          <p:cNvSpPr txBox="1"/>
          <p:nvPr/>
        </p:nvSpPr>
        <p:spPr>
          <a:xfrm>
            <a:off x="457200" y="1600200"/>
            <a:ext cx="3657600" cy="411480"/>
          </a:xfrm>
          <a:prstGeom prst="rect">
            <a:avLst/>
          </a:prstGeom>
          <a:noFill/>
          <a:ln/>
        </p:spPr>
        <p:txBody>
          <a:bodyPr wrap="square" lIns="0" tIns="0" rIns="0" bIns="0" rtlCol="0" anchor="ctr"/>
          <a:lstStyle/>
          <a:p>
            <a:pPr marL="0" indent="0" algn="ctr">
              <a:buNone/>
            </a:pPr>
            <a:r>
              <a:rPr lang="en-US" sz="1300" b="1" i="1" dirty="0">
                <a:solidFill>
                  <a:srgbClr val="0B5FFF"/>
                </a:solidFill>
                <a:latin typeface="Calibri" pitchFamily="34" charset="0"/>
                <a:ea typeface="Calibri" pitchFamily="34" charset="-122"/>
                <a:cs typeface="Calibri" pitchFamily="34" charset="-120"/>
              </a:rPr>
              <a:t>“I paid 38 RM for lunch today”</a:t>
            </a:r>
            <a:endParaRPr lang="en-US" sz="1300" dirty="0"/>
          </a:p>
        </p:txBody>
      </p:sp>
      <p:sp>
        <p:nvSpPr>
          <p:cNvPr id="5" name="Shape 3"/>
          <p:cNvSpPr/>
          <p:nvPr/>
        </p:nvSpPr>
        <p:spPr>
          <a:xfrm>
            <a:off x="1264981" y="2057400"/>
            <a:ext cx="2042038" cy="4160520"/>
          </a:xfrm>
          <a:prstGeom prst="roundRect">
            <a:avLst>
              <a:gd name="adj" fmla="val 5373"/>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6" name="Image 0" descr="C:\Users\HP\AppData\Local\Temp\claude\C--Projects-tunoo-crm-management\72c328e9-b7b3-480f-b6b2-1d6a61924830\scratchpad\deck\crops\sheet_expense.png"/>
          <p:cNvPicPr>
            <a:picLocks noChangeAspect="1"/>
          </p:cNvPicPr>
          <p:nvPr/>
        </p:nvPicPr>
        <p:blipFill>
          <a:blip r:embed="rId3"/>
          <a:stretch>
            <a:fillRect/>
          </a:stretch>
        </p:blipFill>
        <p:spPr>
          <a:xfrm>
            <a:off x="1338133" y="2130552"/>
            <a:ext cx="1895734" cy="4014216"/>
          </a:xfrm>
          <a:prstGeom prst="rect">
            <a:avLst/>
          </a:prstGeom>
        </p:spPr>
      </p:pic>
      <p:sp>
        <p:nvSpPr>
          <p:cNvPr id="7" name="Text 4"/>
          <p:cNvSpPr txBox="1"/>
          <p:nvPr/>
        </p:nvSpPr>
        <p:spPr>
          <a:xfrm>
            <a:off x="457200" y="6263640"/>
            <a:ext cx="3657600" cy="320040"/>
          </a:xfrm>
          <a:prstGeom prst="rect">
            <a:avLst/>
          </a:prstGeom>
          <a:noFill/>
          <a:ln/>
        </p:spPr>
        <p:txBody>
          <a:bodyPr wrap="square" lIns="0" tIns="0" rIns="0" bIns="0" rtlCol="0" anchor="ctr"/>
          <a:lstStyle/>
          <a:p>
            <a:pPr marL="0" indent="0" algn="ctr">
              <a:buNone/>
            </a:pPr>
            <a:r>
              <a:rPr lang="en-US" sz="1200" dirty="0">
                <a:solidFill>
                  <a:srgbClr val="5B6478"/>
                </a:solidFill>
                <a:latin typeface="Calibri" pitchFamily="34" charset="0"/>
                <a:ea typeface="Calibri" pitchFamily="34" charset="-122"/>
                <a:cs typeface="Calibri" pitchFamily="34" charset="-120"/>
              </a:rPr>
              <a:t>Amount, category and date pre-filled</a:t>
            </a:r>
            <a:endParaRPr lang="en-US" sz="1200" dirty="0"/>
          </a:p>
        </p:txBody>
      </p:sp>
      <p:sp>
        <p:nvSpPr>
          <p:cNvPr id="8" name="Text 5"/>
          <p:cNvSpPr txBox="1"/>
          <p:nvPr/>
        </p:nvSpPr>
        <p:spPr>
          <a:xfrm>
            <a:off x="4297680" y="1600200"/>
            <a:ext cx="3657600" cy="411480"/>
          </a:xfrm>
          <a:prstGeom prst="rect">
            <a:avLst/>
          </a:prstGeom>
          <a:noFill/>
          <a:ln/>
        </p:spPr>
        <p:txBody>
          <a:bodyPr wrap="square" lIns="0" tIns="0" rIns="0" bIns="0" rtlCol="0" anchor="ctr"/>
          <a:lstStyle/>
          <a:p>
            <a:pPr marL="0" indent="0" algn="ctr">
              <a:buNone/>
            </a:pPr>
            <a:r>
              <a:rPr lang="en-US" sz="1300" b="1" i="1" dirty="0">
                <a:solidFill>
                  <a:srgbClr val="0B5FFF"/>
                </a:solidFill>
                <a:latin typeface="Calibri" pitchFamily="34" charset="0"/>
                <a:ea typeface="Calibri" pitchFamily="34" charset="-122"/>
                <a:cs typeface="Calibri" pitchFamily="34" charset="-120"/>
              </a:rPr>
              <a:t>“I got my salary of 9500 RM today”</a:t>
            </a:r>
            <a:endParaRPr lang="en-US" sz="1300" dirty="0"/>
          </a:p>
        </p:txBody>
      </p:sp>
      <p:sp>
        <p:nvSpPr>
          <p:cNvPr id="9" name="Shape 6"/>
          <p:cNvSpPr/>
          <p:nvPr/>
        </p:nvSpPr>
        <p:spPr>
          <a:xfrm>
            <a:off x="5054767" y="2057400"/>
            <a:ext cx="2143426" cy="4160520"/>
          </a:xfrm>
          <a:prstGeom prst="roundRect">
            <a:avLst>
              <a:gd name="adj" fmla="val 5119"/>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10" name="Image 1" descr="C:\Users\HP\AppData\Local\Temp\claude\C--Projects-tunoo-crm-management\72c328e9-b7b3-480f-b6b2-1d6a61924830\scratchpad\deck\crops\sheet_income.png"/>
          <p:cNvPicPr>
            <a:picLocks noChangeAspect="1"/>
          </p:cNvPicPr>
          <p:nvPr/>
        </p:nvPicPr>
        <p:blipFill>
          <a:blip r:embed="rId4"/>
          <a:stretch>
            <a:fillRect/>
          </a:stretch>
        </p:blipFill>
        <p:spPr>
          <a:xfrm>
            <a:off x="5127919" y="2130552"/>
            <a:ext cx="1997122" cy="4014216"/>
          </a:xfrm>
          <a:prstGeom prst="rect">
            <a:avLst/>
          </a:prstGeom>
        </p:spPr>
      </p:pic>
      <p:sp>
        <p:nvSpPr>
          <p:cNvPr id="11" name="Text 7"/>
          <p:cNvSpPr txBox="1"/>
          <p:nvPr/>
        </p:nvSpPr>
        <p:spPr>
          <a:xfrm>
            <a:off x="4297680" y="6263640"/>
            <a:ext cx="3657600" cy="320040"/>
          </a:xfrm>
          <a:prstGeom prst="rect">
            <a:avLst/>
          </a:prstGeom>
          <a:noFill/>
          <a:ln/>
        </p:spPr>
        <p:txBody>
          <a:bodyPr wrap="square" lIns="0" tIns="0" rIns="0" bIns="0" rtlCol="0" anchor="ctr"/>
          <a:lstStyle/>
          <a:p>
            <a:pPr marL="0" indent="0" algn="ctr">
              <a:buNone/>
            </a:pPr>
            <a:r>
              <a:rPr lang="en-US" sz="1200" dirty="0">
                <a:solidFill>
                  <a:srgbClr val="5B6478"/>
                </a:solidFill>
                <a:latin typeface="Calibri" pitchFamily="34" charset="0"/>
                <a:ea typeface="Calibri" pitchFamily="34" charset="-122"/>
                <a:cs typeface="Calibri" pitchFamily="34" charset="-120"/>
              </a:rPr>
              <a:t>Income form, salary category</a:t>
            </a:r>
            <a:endParaRPr lang="en-US" sz="1200" dirty="0"/>
          </a:p>
        </p:txBody>
      </p:sp>
      <p:sp>
        <p:nvSpPr>
          <p:cNvPr id="12" name="Text 8"/>
          <p:cNvSpPr txBox="1"/>
          <p:nvPr/>
        </p:nvSpPr>
        <p:spPr>
          <a:xfrm>
            <a:off x="8138160" y="1600200"/>
            <a:ext cx="3657600" cy="411480"/>
          </a:xfrm>
          <a:prstGeom prst="rect">
            <a:avLst/>
          </a:prstGeom>
          <a:noFill/>
          <a:ln/>
        </p:spPr>
        <p:txBody>
          <a:bodyPr wrap="square" lIns="0" tIns="0" rIns="0" bIns="0" rtlCol="0" anchor="ctr"/>
          <a:lstStyle/>
          <a:p>
            <a:pPr marL="0" indent="0" algn="ctr">
              <a:buNone/>
            </a:pPr>
            <a:r>
              <a:rPr lang="en-US" sz="1300" b="1" i="1" dirty="0">
                <a:solidFill>
                  <a:srgbClr val="0B5FFF"/>
                </a:solidFill>
                <a:latin typeface="Calibri" pitchFamily="34" charset="0"/>
                <a:ea typeface="Calibri" pitchFamily="34" charset="-122"/>
                <a:cs typeface="Calibri" pitchFamily="34" charset="-120"/>
              </a:rPr>
              <a:t>“set a monthly budget of 800 RM for groceries”</a:t>
            </a:r>
            <a:endParaRPr lang="en-US" sz="1300" dirty="0"/>
          </a:p>
        </p:txBody>
      </p:sp>
      <p:sp>
        <p:nvSpPr>
          <p:cNvPr id="13" name="Shape 9"/>
          <p:cNvSpPr/>
          <p:nvPr/>
        </p:nvSpPr>
        <p:spPr>
          <a:xfrm>
            <a:off x="8890254" y="2057400"/>
            <a:ext cx="2153412" cy="4160520"/>
          </a:xfrm>
          <a:prstGeom prst="roundRect">
            <a:avLst>
              <a:gd name="adj" fmla="val 5096"/>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14" name="Image 2" descr="C:\Users\HP\AppData\Local\Temp\claude\C--Projects-tunoo-crm-management\72c328e9-b7b3-480f-b6b2-1d6a61924830\scratchpad\deck\crops\sheet_budget.png"/>
          <p:cNvPicPr>
            <a:picLocks noChangeAspect="1"/>
          </p:cNvPicPr>
          <p:nvPr/>
        </p:nvPicPr>
        <p:blipFill>
          <a:blip r:embed="rId5"/>
          <a:stretch>
            <a:fillRect/>
          </a:stretch>
        </p:blipFill>
        <p:spPr>
          <a:xfrm>
            <a:off x="8963406" y="2130552"/>
            <a:ext cx="2007108" cy="4014216"/>
          </a:xfrm>
          <a:prstGeom prst="rect">
            <a:avLst/>
          </a:prstGeom>
        </p:spPr>
      </p:pic>
      <p:sp>
        <p:nvSpPr>
          <p:cNvPr id="15" name="Text 10"/>
          <p:cNvSpPr txBox="1"/>
          <p:nvPr/>
        </p:nvSpPr>
        <p:spPr>
          <a:xfrm>
            <a:off x="8138160" y="6263640"/>
            <a:ext cx="3657600" cy="320040"/>
          </a:xfrm>
          <a:prstGeom prst="rect">
            <a:avLst/>
          </a:prstGeom>
          <a:noFill/>
          <a:ln/>
        </p:spPr>
        <p:txBody>
          <a:bodyPr wrap="square" lIns="0" tIns="0" rIns="0" bIns="0" rtlCol="0" anchor="ctr"/>
          <a:lstStyle/>
          <a:p>
            <a:pPr marL="0" indent="0" algn="ctr">
              <a:buNone/>
            </a:pPr>
            <a:r>
              <a:rPr lang="en-US" sz="1200" dirty="0">
                <a:solidFill>
                  <a:srgbClr val="5B6478"/>
                </a:solidFill>
                <a:latin typeface="Calibri" pitchFamily="34" charset="0"/>
                <a:ea typeface="Calibri" pitchFamily="34" charset="-122"/>
                <a:cs typeface="Calibri" pitchFamily="34" charset="-120"/>
              </a:rPr>
              <a:t>Limit, period and category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Direct database access: approval is not enough</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Writes wait for Confirm, but reads run instantly, and a read can already expose confidential data</a:t>
            </a:r>
            <a:endParaRPr lang="en-US" sz="1600" dirty="0"/>
          </a:p>
        </p:txBody>
      </p:sp>
      <p:sp>
        <p:nvSpPr>
          <p:cNvPr id="4" name="Shape 2"/>
          <p:cNvSpPr/>
          <p:nvPr/>
        </p:nvSpPr>
        <p:spPr>
          <a:xfrm>
            <a:off x="1059656" y="1645920"/>
            <a:ext cx="5470208" cy="2377440"/>
          </a:xfrm>
          <a:prstGeom prst="roundRect">
            <a:avLst>
              <a:gd name="adj" fmla="val 4615"/>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5" name="Image 0" descr="C:\Users\HP\AppData\Local\Temp\claude\C--Projects-tunoo-crm-management\72c328e9-b7b3-480f-b6b2-1d6a61924830\scratchpad\deck\crops\crm.png"/>
          <p:cNvPicPr>
            <a:picLocks noChangeAspect="1"/>
          </p:cNvPicPr>
          <p:nvPr/>
        </p:nvPicPr>
        <p:blipFill>
          <a:blip r:embed="rId3"/>
          <a:stretch>
            <a:fillRect/>
          </a:stretch>
        </p:blipFill>
        <p:spPr>
          <a:xfrm>
            <a:off x="1132808" y="1719072"/>
            <a:ext cx="5323904" cy="2231136"/>
          </a:xfrm>
          <a:prstGeom prst="rect">
            <a:avLst/>
          </a:prstGeom>
        </p:spPr>
      </p:pic>
      <p:sp>
        <p:nvSpPr>
          <p:cNvPr id="6" name="Shape 3"/>
          <p:cNvSpPr/>
          <p:nvPr/>
        </p:nvSpPr>
        <p:spPr>
          <a:xfrm>
            <a:off x="7498080" y="1940357"/>
            <a:ext cx="4251960" cy="1788566"/>
          </a:xfrm>
          <a:prstGeom prst="roundRect">
            <a:avLst>
              <a:gd name="adj" fmla="val 6135"/>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7" name="Image 1" descr="C:\Users\HP\AppData\Local\Temp\claude\C--Projects-tunoo-crm-management\72c328e9-b7b3-480f-b6b2-1d6a61924830\scratchpad\deck\crops\sheet_crm_write.png"/>
          <p:cNvPicPr>
            <a:picLocks noChangeAspect="1"/>
          </p:cNvPicPr>
          <p:nvPr/>
        </p:nvPicPr>
        <p:blipFill>
          <a:blip r:embed="rId4"/>
          <a:stretch>
            <a:fillRect/>
          </a:stretch>
        </p:blipFill>
        <p:spPr>
          <a:xfrm>
            <a:off x="7571232" y="2013509"/>
            <a:ext cx="4105656" cy="1642262"/>
          </a:xfrm>
          <a:prstGeom prst="rect">
            <a:avLst/>
          </a:prstGeom>
        </p:spPr>
      </p:pic>
      <p:sp>
        <p:nvSpPr>
          <p:cNvPr id="8" name="Shape 4"/>
          <p:cNvSpPr/>
          <p:nvPr/>
        </p:nvSpPr>
        <p:spPr>
          <a:xfrm>
            <a:off x="457200" y="4343400"/>
            <a:ext cx="6675120" cy="2148840"/>
          </a:xfrm>
          <a:prstGeom prst="roundRect">
            <a:avLst>
              <a:gd name="adj" fmla="val 5957"/>
            </a:avLst>
          </a:prstGeom>
          <a:solidFill>
            <a:srgbClr val="FDECEC"/>
          </a:solidFill>
          <a:ln w="15875">
            <a:solidFill>
              <a:srgbClr val="E5484D"/>
            </a:solidFill>
            <a:prstDash val="solid"/>
          </a:ln>
        </p:spPr>
        <p:txBody>
          <a:bodyPr/>
          <a:lstStyle/>
          <a:p>
            <a:endParaRPr lang="en-MY"/>
          </a:p>
        </p:txBody>
      </p:sp>
      <p:sp>
        <p:nvSpPr>
          <p:cNvPr id="9" name="Shape 5"/>
          <p:cNvSpPr/>
          <p:nvPr/>
        </p:nvSpPr>
        <p:spPr>
          <a:xfrm>
            <a:off x="731520" y="4572000"/>
            <a:ext cx="566928" cy="566928"/>
          </a:xfrm>
          <a:prstGeom prst="ellipse">
            <a:avLst/>
          </a:prstGeom>
          <a:solidFill>
            <a:srgbClr val="E5484D"/>
          </a:solidFill>
          <a:ln w="12700">
            <a:solidFill>
              <a:srgbClr val="E5484D"/>
            </a:solidFill>
            <a:prstDash val="solid"/>
          </a:ln>
        </p:spPr>
        <p:txBody>
          <a:bodyPr/>
          <a:lstStyle/>
          <a:p>
            <a:endParaRPr lang="en-MY"/>
          </a:p>
        </p:txBody>
      </p:sp>
      <p:pic>
        <p:nvPicPr>
          <p:cNvPr id="10" name="Image 2" descr="preencoded.png"/>
          <p:cNvPicPr>
            <a:picLocks noChangeAspect="1"/>
          </p:cNvPicPr>
          <p:nvPr/>
        </p:nvPicPr>
        <p:blipFill>
          <a:blip r:embed="rId5"/>
          <a:stretch>
            <a:fillRect/>
          </a:stretch>
        </p:blipFill>
        <p:spPr>
          <a:xfrm>
            <a:off x="878921" y="4719401"/>
            <a:ext cx="272125" cy="272125"/>
          </a:xfrm>
          <a:prstGeom prst="rect">
            <a:avLst/>
          </a:prstGeom>
        </p:spPr>
      </p:pic>
      <p:sp>
        <p:nvSpPr>
          <p:cNvPr id="11" name="Text 6"/>
          <p:cNvSpPr txBox="1"/>
          <p:nvPr/>
        </p:nvSpPr>
        <p:spPr>
          <a:xfrm>
            <a:off x="1463040" y="4480560"/>
            <a:ext cx="5486400" cy="1920240"/>
          </a:xfrm>
          <a:prstGeom prst="rect">
            <a:avLst/>
          </a:prstGeom>
          <a:noFill/>
          <a:ln/>
        </p:spPr>
        <p:txBody>
          <a:bodyPr wrap="square" lIns="0" tIns="0" rIns="0" bIns="0" rtlCol="0" anchor="t"/>
          <a:lstStyle/>
          <a:p>
            <a:pPr marL="0" indent="0">
              <a:spcAft>
                <a:spcPts val="400"/>
              </a:spcAft>
              <a:buNone/>
            </a:pPr>
            <a:r>
              <a:rPr lang="en-US" sz="1600" b="1" dirty="0">
                <a:solidFill>
                  <a:srgbClr val="9B1C1F"/>
                </a:solidFill>
                <a:latin typeface="Calibri" pitchFamily="34" charset="0"/>
                <a:ea typeface="Calibri" pitchFamily="34" charset="-122"/>
                <a:cs typeface="Calibri" pitchFamily="34" charset="-120"/>
              </a:rPr>
              <a:t>The risk behind “how many people are in the CRM?”</a:t>
            </a:r>
            <a:endParaRPr lang="en-US" sz="1600" dirty="0"/>
          </a:p>
          <a:p>
            <a:pPr marL="0" indent="0">
              <a:spcAft>
                <a:spcPts val="400"/>
              </a:spcAft>
              <a:buNone/>
            </a:pPr>
            <a:r>
              <a:rPr lang="en-US" sz="1300" dirty="0">
                <a:solidFill>
                  <a:srgbClr val="1B1F2B"/>
                </a:solidFill>
                <a:latin typeface="Calibri" pitchFamily="34" charset="0"/>
                <a:ea typeface="Calibri" pitchFamily="34" charset="-122"/>
                <a:cs typeface="Calibri" pitchFamily="34" charset="-120"/>
              </a:rPr>
              <a:t>The same free-form SQL path that counted 11,138 persons can just as easily return their names, addresses, phone numbers, contracts or salaries. A curious question, a mistaken query or a prompt injected into a document is enough. Nothing stops the model from reading any table it can reach.</a:t>
            </a:r>
            <a:endParaRPr lang="en-US" sz="1600" dirty="0"/>
          </a:p>
        </p:txBody>
      </p:sp>
      <p:sp>
        <p:nvSpPr>
          <p:cNvPr id="12" name="Shape 7"/>
          <p:cNvSpPr/>
          <p:nvPr/>
        </p:nvSpPr>
        <p:spPr>
          <a:xfrm>
            <a:off x="7543800" y="4434840"/>
            <a:ext cx="475488" cy="475488"/>
          </a:xfrm>
          <a:prstGeom prst="ellipse">
            <a:avLst/>
          </a:prstGeom>
          <a:solidFill>
            <a:srgbClr val="F59E0B"/>
          </a:solidFill>
          <a:ln w="12700">
            <a:solidFill>
              <a:srgbClr val="F59E0B"/>
            </a:solidFill>
            <a:prstDash val="solid"/>
          </a:ln>
        </p:spPr>
        <p:txBody>
          <a:bodyPr/>
          <a:lstStyle/>
          <a:p>
            <a:endParaRPr lang="en-MY"/>
          </a:p>
        </p:txBody>
      </p:sp>
      <p:pic>
        <p:nvPicPr>
          <p:cNvPr id="13" name="Image 3" descr="preencoded.png"/>
          <p:cNvPicPr>
            <a:picLocks noChangeAspect="1"/>
          </p:cNvPicPr>
          <p:nvPr/>
        </p:nvPicPr>
        <p:blipFill>
          <a:blip r:embed="rId6"/>
          <a:stretch>
            <a:fillRect/>
          </a:stretch>
        </p:blipFill>
        <p:spPr>
          <a:xfrm>
            <a:off x="7667427" y="4558467"/>
            <a:ext cx="228234" cy="228234"/>
          </a:xfrm>
          <a:prstGeom prst="rect">
            <a:avLst/>
          </a:prstGeom>
        </p:spPr>
      </p:pic>
      <p:sp>
        <p:nvSpPr>
          <p:cNvPr id="14" name="Text 8"/>
          <p:cNvSpPr txBox="1"/>
          <p:nvPr/>
        </p:nvSpPr>
        <p:spPr>
          <a:xfrm>
            <a:off x="8202168" y="4379976"/>
            <a:ext cx="3547872" cy="1005840"/>
          </a:xfrm>
          <a:prstGeom prst="rect">
            <a:avLst/>
          </a:prstGeom>
          <a:noFill/>
          <a:ln/>
        </p:spPr>
        <p:txBody>
          <a:bodyPr wrap="square" lIns="0" tIns="0" rIns="0" bIns="0" rtlCol="0" anchor="t"/>
          <a:lstStyle/>
          <a:p>
            <a:pPr marL="0" indent="0">
              <a:spcAft>
                <a:spcPts val="200"/>
              </a:spcAft>
              <a:buNone/>
            </a:pPr>
            <a:r>
              <a:rPr lang="en-US" sz="1600" b="1" dirty="0">
                <a:solidFill>
                  <a:srgbClr val="0E1630"/>
                </a:solidFill>
                <a:latin typeface="Calibri" pitchFamily="34" charset="0"/>
                <a:ea typeface="Calibri" pitchFamily="34" charset="-122"/>
                <a:cs typeface="Calibri" pitchFamily="34" charset="-120"/>
              </a:rPr>
              <a:t>Writes need a click, not a typed “yes”</a:t>
            </a:r>
            <a:endParaRPr lang="en-US" sz="1600" dirty="0"/>
          </a:p>
          <a:p>
            <a:pPr marL="0" indent="0">
              <a:spcAft>
                <a:spcPts val="200"/>
              </a:spcAft>
              <a:buNone/>
            </a:pPr>
            <a:r>
              <a:rPr lang="en-US" sz="1300" dirty="0">
                <a:solidFill>
                  <a:srgbClr val="5B6478"/>
                </a:solidFill>
                <a:latin typeface="Calibri" pitchFamily="34" charset="0"/>
                <a:ea typeface="Calibri" pitchFamily="34" charset="-122"/>
                <a:cs typeface="Calibri" pitchFamily="34" charset="-120"/>
              </a:rPr>
              <a:t>INSERT / UPDATE / DELETE show the exact SQL in a Confirm / Cancel sheet</a:t>
            </a:r>
            <a:endParaRPr lang="en-US" sz="1600" dirty="0"/>
          </a:p>
        </p:txBody>
      </p:sp>
      <p:sp>
        <p:nvSpPr>
          <p:cNvPr id="15" name="Shape 9"/>
          <p:cNvSpPr/>
          <p:nvPr/>
        </p:nvSpPr>
        <p:spPr>
          <a:xfrm>
            <a:off x="7543800" y="5486400"/>
            <a:ext cx="475488" cy="475488"/>
          </a:xfrm>
          <a:prstGeom prst="ellipse">
            <a:avLst/>
          </a:prstGeom>
          <a:solidFill>
            <a:srgbClr val="E5484D"/>
          </a:solidFill>
          <a:ln w="12700">
            <a:solidFill>
              <a:srgbClr val="E5484D"/>
            </a:solidFill>
            <a:prstDash val="solid"/>
          </a:ln>
        </p:spPr>
        <p:txBody>
          <a:bodyPr/>
          <a:lstStyle/>
          <a:p>
            <a:endParaRPr lang="en-MY"/>
          </a:p>
        </p:txBody>
      </p:sp>
      <p:pic>
        <p:nvPicPr>
          <p:cNvPr id="16" name="Image 4" descr="preencoded.png"/>
          <p:cNvPicPr>
            <a:picLocks noChangeAspect="1"/>
          </p:cNvPicPr>
          <p:nvPr/>
        </p:nvPicPr>
        <p:blipFill>
          <a:blip r:embed="rId7"/>
          <a:stretch>
            <a:fillRect/>
          </a:stretch>
        </p:blipFill>
        <p:spPr>
          <a:xfrm>
            <a:off x="7667427" y="5610027"/>
            <a:ext cx="228234" cy="228234"/>
          </a:xfrm>
          <a:prstGeom prst="rect">
            <a:avLst/>
          </a:prstGeom>
        </p:spPr>
      </p:pic>
      <p:sp>
        <p:nvSpPr>
          <p:cNvPr id="17" name="Text 10"/>
          <p:cNvSpPr txBox="1"/>
          <p:nvPr/>
        </p:nvSpPr>
        <p:spPr>
          <a:xfrm>
            <a:off x="8202168" y="5431536"/>
            <a:ext cx="3547872" cy="1005840"/>
          </a:xfrm>
          <a:prstGeom prst="rect">
            <a:avLst/>
          </a:prstGeom>
          <a:noFill/>
          <a:ln/>
        </p:spPr>
        <p:txBody>
          <a:bodyPr wrap="square" lIns="0" tIns="0" rIns="0" bIns="0" rtlCol="0" anchor="t"/>
          <a:lstStyle/>
          <a:p>
            <a:pPr marL="0" indent="0">
              <a:spcAft>
                <a:spcPts val="200"/>
              </a:spcAft>
              <a:buNone/>
            </a:pPr>
            <a:r>
              <a:rPr lang="en-US" sz="1600" b="1" dirty="0">
                <a:solidFill>
                  <a:srgbClr val="0E1630"/>
                </a:solidFill>
                <a:latin typeface="Calibri" pitchFamily="34" charset="0"/>
                <a:ea typeface="Calibri" pitchFamily="34" charset="-122"/>
                <a:cs typeface="Calibri" pitchFamily="34" charset="-120"/>
              </a:rPr>
              <a:t>Reads have no such gate</a:t>
            </a:r>
            <a:endParaRPr lang="en-US" sz="1600" dirty="0"/>
          </a:p>
          <a:p>
            <a:pPr marL="0" indent="0">
              <a:spcAft>
                <a:spcPts val="200"/>
              </a:spcAft>
              <a:buNone/>
            </a:pPr>
            <a:r>
              <a:rPr lang="en-US" sz="1300" dirty="0">
                <a:solidFill>
                  <a:srgbClr val="5B6478"/>
                </a:solidFill>
                <a:latin typeface="Calibri" pitchFamily="34" charset="0"/>
                <a:ea typeface="Calibri" pitchFamily="34" charset="-122"/>
                <a:cs typeface="Calibri" pitchFamily="34" charset="-120"/>
              </a:rPr>
              <a:t>A SELECT runs immediately, so the result is in the model's context before anyone reviews it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630"/>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Safer by design: tool / API calling instead of database access</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B8C4E6"/>
                </a:solidFill>
                <a:latin typeface="Calibri" pitchFamily="34" charset="0"/>
                <a:ea typeface="Calibri" pitchFamily="34" charset="-122"/>
                <a:cs typeface="Calibri" pitchFamily="34" charset="-120"/>
              </a:rPr>
              <a:t>The agent calls a small set of purpose-built APIs; it never sees the database behind them</a:t>
            </a:r>
            <a:endParaRPr lang="en-US" sz="1600" dirty="0"/>
          </a:p>
        </p:txBody>
      </p:sp>
      <p:sp>
        <p:nvSpPr>
          <p:cNvPr id="4" name="Shape 2"/>
          <p:cNvSpPr/>
          <p:nvPr/>
        </p:nvSpPr>
        <p:spPr>
          <a:xfrm>
            <a:off x="548640" y="1691640"/>
            <a:ext cx="5440680" cy="3840480"/>
          </a:xfrm>
          <a:prstGeom prst="roundRect">
            <a:avLst>
              <a:gd name="adj" fmla="val 3333"/>
            </a:avLst>
          </a:prstGeom>
          <a:solidFill>
            <a:srgbClr val="1A2550"/>
          </a:solidFill>
          <a:ln w="19050">
            <a:solidFill>
              <a:srgbClr val="F87171"/>
            </a:solidFill>
            <a:prstDash val="solid"/>
          </a:ln>
        </p:spPr>
        <p:txBody>
          <a:bodyPr/>
          <a:lstStyle/>
          <a:p>
            <a:endParaRPr lang="en-MY"/>
          </a:p>
        </p:txBody>
      </p:sp>
      <p:sp>
        <p:nvSpPr>
          <p:cNvPr id="5" name="Text 3"/>
          <p:cNvSpPr txBox="1"/>
          <p:nvPr/>
        </p:nvSpPr>
        <p:spPr>
          <a:xfrm>
            <a:off x="822960" y="1828800"/>
            <a:ext cx="4892040" cy="777240"/>
          </a:xfrm>
          <a:prstGeom prst="rect">
            <a:avLst/>
          </a:prstGeom>
          <a:noFill/>
          <a:ln/>
        </p:spPr>
        <p:txBody>
          <a:bodyPr wrap="square" lIns="0" tIns="0" rIns="0" bIns="0" rtlCol="0" anchor="t"/>
          <a:lstStyle/>
          <a:p>
            <a:pPr marL="0" indent="0">
              <a:buNone/>
            </a:pPr>
            <a:r>
              <a:rPr lang="en-US" sz="1900" b="1" dirty="0">
                <a:solidFill>
                  <a:srgbClr val="F87171"/>
                </a:solidFill>
                <a:latin typeface="Calibri" pitchFamily="34" charset="0"/>
                <a:ea typeface="Calibri" pitchFamily="34" charset="-122"/>
                <a:cs typeface="Calibri" pitchFamily="34" charset="-120"/>
              </a:rPr>
              <a:t>Agent with database access</a:t>
            </a:r>
            <a:endParaRPr lang="en-US" sz="1900" dirty="0"/>
          </a:p>
          <a:p>
            <a:pPr marL="0" indent="0">
              <a:buNone/>
            </a:pPr>
            <a:r>
              <a:rPr lang="en-US" sz="1250" dirty="0">
                <a:solidFill>
                  <a:srgbClr val="B8C4E6"/>
                </a:solidFill>
                <a:latin typeface="Calibri" pitchFamily="34" charset="0"/>
                <a:ea typeface="Calibri" pitchFamily="34" charset="-122"/>
                <a:cs typeface="Calibri" pitchFamily="34" charset="-120"/>
              </a:rPr>
              <a:t>query_crm_database: the model writes any SQL</a:t>
            </a:r>
            <a:endParaRPr lang="en-US" sz="1900" dirty="0"/>
          </a:p>
        </p:txBody>
      </p:sp>
      <p:pic>
        <p:nvPicPr>
          <p:cNvPr id="6" name="Image 0" descr="preencoded.png"/>
          <p:cNvPicPr>
            <a:picLocks noChangeAspect="1"/>
          </p:cNvPicPr>
          <p:nvPr/>
        </p:nvPicPr>
        <p:blipFill>
          <a:blip r:embed="rId3"/>
          <a:stretch>
            <a:fillRect/>
          </a:stretch>
        </p:blipFill>
        <p:spPr>
          <a:xfrm>
            <a:off x="841248" y="2843784"/>
            <a:ext cx="237744" cy="237744"/>
          </a:xfrm>
          <a:prstGeom prst="rect">
            <a:avLst/>
          </a:prstGeom>
        </p:spPr>
      </p:pic>
      <p:sp>
        <p:nvSpPr>
          <p:cNvPr id="7" name="Text 4"/>
          <p:cNvSpPr txBox="1"/>
          <p:nvPr/>
        </p:nvSpPr>
        <p:spPr>
          <a:xfrm>
            <a:off x="1207008" y="2788920"/>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Can read every table and column it can reach</a:t>
            </a:r>
            <a:endParaRPr lang="en-US" sz="1350" dirty="0"/>
          </a:p>
        </p:txBody>
      </p:sp>
      <p:pic>
        <p:nvPicPr>
          <p:cNvPr id="8" name="Image 1" descr="preencoded.png"/>
          <p:cNvPicPr>
            <a:picLocks noChangeAspect="1"/>
          </p:cNvPicPr>
          <p:nvPr/>
        </p:nvPicPr>
        <p:blipFill>
          <a:blip r:embed="rId3"/>
          <a:stretch>
            <a:fillRect/>
          </a:stretch>
        </p:blipFill>
        <p:spPr>
          <a:xfrm>
            <a:off x="841248" y="3904488"/>
            <a:ext cx="237744" cy="237744"/>
          </a:xfrm>
          <a:prstGeom prst="rect">
            <a:avLst/>
          </a:prstGeom>
        </p:spPr>
      </p:pic>
      <p:sp>
        <p:nvSpPr>
          <p:cNvPr id="9" name="Text 5"/>
          <p:cNvSpPr txBox="1"/>
          <p:nvPr/>
        </p:nvSpPr>
        <p:spPr>
          <a:xfrm>
            <a:off x="1207008" y="3849624"/>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Prompt injection can turn into data exfiltration</a:t>
            </a:r>
            <a:endParaRPr lang="en-US" sz="1350" dirty="0"/>
          </a:p>
        </p:txBody>
      </p:sp>
      <p:pic>
        <p:nvPicPr>
          <p:cNvPr id="10" name="Image 2" descr="preencoded.png"/>
          <p:cNvPicPr>
            <a:picLocks noChangeAspect="1"/>
          </p:cNvPicPr>
          <p:nvPr/>
        </p:nvPicPr>
        <p:blipFill>
          <a:blip r:embed="rId3"/>
          <a:stretch>
            <a:fillRect/>
          </a:stretch>
        </p:blipFill>
        <p:spPr>
          <a:xfrm>
            <a:off x="841248" y="3374136"/>
            <a:ext cx="237744" cy="237744"/>
          </a:xfrm>
          <a:prstGeom prst="rect">
            <a:avLst/>
          </a:prstGeom>
        </p:spPr>
      </p:pic>
      <p:sp>
        <p:nvSpPr>
          <p:cNvPr id="11" name="Text 6"/>
          <p:cNvSpPr txBox="1"/>
          <p:nvPr/>
        </p:nvSpPr>
        <p:spPr>
          <a:xfrm>
            <a:off x="1207008" y="3319272"/>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Personal and financial data enters the model context</a:t>
            </a:r>
            <a:endParaRPr lang="en-US" sz="1350" dirty="0"/>
          </a:p>
        </p:txBody>
      </p:sp>
      <p:pic>
        <p:nvPicPr>
          <p:cNvPr id="12" name="Image 3" descr="preencoded.png"/>
          <p:cNvPicPr>
            <a:picLocks noChangeAspect="1"/>
          </p:cNvPicPr>
          <p:nvPr/>
        </p:nvPicPr>
        <p:blipFill>
          <a:blip r:embed="rId3"/>
          <a:stretch>
            <a:fillRect/>
          </a:stretch>
        </p:blipFill>
        <p:spPr>
          <a:xfrm>
            <a:off x="841248" y="4434840"/>
            <a:ext cx="237744" cy="237744"/>
          </a:xfrm>
          <a:prstGeom prst="rect">
            <a:avLst/>
          </a:prstGeom>
        </p:spPr>
      </p:pic>
      <p:sp>
        <p:nvSpPr>
          <p:cNvPr id="13" name="Text 7"/>
          <p:cNvSpPr txBox="1"/>
          <p:nvPr/>
        </p:nvSpPr>
        <p:spPr>
          <a:xfrm>
            <a:off x="1207008" y="4379976"/>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Hard to audit: every query is different</a:t>
            </a:r>
            <a:endParaRPr lang="en-US" sz="1350" dirty="0"/>
          </a:p>
        </p:txBody>
      </p:sp>
      <p:pic>
        <p:nvPicPr>
          <p:cNvPr id="14" name="Image 4" descr="preencoded.png"/>
          <p:cNvPicPr>
            <a:picLocks noChangeAspect="1"/>
          </p:cNvPicPr>
          <p:nvPr/>
        </p:nvPicPr>
        <p:blipFill>
          <a:blip r:embed="rId3"/>
          <a:stretch>
            <a:fillRect/>
          </a:stretch>
        </p:blipFill>
        <p:spPr>
          <a:xfrm>
            <a:off x="841248" y="4965192"/>
            <a:ext cx="237744" cy="237744"/>
          </a:xfrm>
          <a:prstGeom prst="rect">
            <a:avLst/>
          </a:prstGeom>
        </p:spPr>
      </p:pic>
      <p:sp>
        <p:nvSpPr>
          <p:cNvPr id="15" name="Text 8"/>
          <p:cNvSpPr txBox="1"/>
          <p:nvPr/>
        </p:nvSpPr>
        <p:spPr>
          <a:xfrm>
            <a:off x="1207008" y="4910328"/>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Least privilege is impossible to express</a:t>
            </a:r>
            <a:endParaRPr lang="en-US" sz="1350" dirty="0"/>
          </a:p>
        </p:txBody>
      </p:sp>
      <p:sp>
        <p:nvSpPr>
          <p:cNvPr id="16" name="Shape 9"/>
          <p:cNvSpPr/>
          <p:nvPr/>
        </p:nvSpPr>
        <p:spPr>
          <a:xfrm>
            <a:off x="6199632" y="1691640"/>
            <a:ext cx="5440680" cy="3840480"/>
          </a:xfrm>
          <a:prstGeom prst="roundRect">
            <a:avLst>
              <a:gd name="adj" fmla="val 3333"/>
            </a:avLst>
          </a:prstGeom>
          <a:solidFill>
            <a:srgbClr val="1A2550"/>
          </a:solidFill>
          <a:ln w="19050">
            <a:solidFill>
              <a:srgbClr val="14B8A6"/>
            </a:solidFill>
            <a:prstDash val="solid"/>
          </a:ln>
        </p:spPr>
        <p:txBody>
          <a:bodyPr/>
          <a:lstStyle/>
          <a:p>
            <a:endParaRPr lang="en-MY"/>
          </a:p>
        </p:txBody>
      </p:sp>
      <p:sp>
        <p:nvSpPr>
          <p:cNvPr id="17" name="Text 10"/>
          <p:cNvSpPr txBox="1"/>
          <p:nvPr/>
        </p:nvSpPr>
        <p:spPr>
          <a:xfrm>
            <a:off x="6473952" y="1828800"/>
            <a:ext cx="4892040" cy="777240"/>
          </a:xfrm>
          <a:prstGeom prst="rect">
            <a:avLst/>
          </a:prstGeom>
          <a:noFill/>
          <a:ln/>
        </p:spPr>
        <p:txBody>
          <a:bodyPr wrap="square" lIns="0" tIns="0" rIns="0" bIns="0" rtlCol="0" anchor="t"/>
          <a:lstStyle/>
          <a:p>
            <a:pPr marL="0" indent="0">
              <a:buNone/>
            </a:pPr>
            <a:r>
              <a:rPr lang="en-US" sz="1900" b="1" dirty="0">
                <a:solidFill>
                  <a:srgbClr val="14B8A6"/>
                </a:solidFill>
                <a:latin typeface="Calibri" pitchFamily="34" charset="0"/>
                <a:ea typeface="Calibri" pitchFamily="34" charset="-122"/>
                <a:cs typeface="Calibri" pitchFamily="34" charset="-120"/>
              </a:rPr>
              <a:t>Agent with API tools</a:t>
            </a:r>
            <a:endParaRPr lang="en-US" sz="1900" dirty="0"/>
          </a:p>
          <a:p>
            <a:pPr marL="0" indent="0">
              <a:buNone/>
            </a:pPr>
            <a:r>
              <a:rPr lang="en-US" sz="1250" dirty="0">
                <a:solidFill>
                  <a:srgbClr val="B8C4E6"/>
                </a:solidFill>
                <a:latin typeface="Calibri" pitchFamily="34" charset="0"/>
                <a:ea typeface="Calibri" pitchFamily="34" charset="-122"/>
                <a:cs typeface="Calibri" pitchFamily="34" charset="-120"/>
              </a:rPr>
              <a:t>get_balance, list_transactions, list_assets, open_entry_form …</a:t>
            </a:r>
            <a:endParaRPr lang="en-US" sz="1900" dirty="0"/>
          </a:p>
        </p:txBody>
      </p:sp>
      <p:pic>
        <p:nvPicPr>
          <p:cNvPr id="18" name="Image 5" descr="preencoded.png"/>
          <p:cNvPicPr>
            <a:picLocks noChangeAspect="1"/>
          </p:cNvPicPr>
          <p:nvPr/>
        </p:nvPicPr>
        <p:blipFill>
          <a:blip r:embed="rId4"/>
          <a:stretch>
            <a:fillRect/>
          </a:stretch>
        </p:blipFill>
        <p:spPr>
          <a:xfrm>
            <a:off x="6492240" y="2843784"/>
            <a:ext cx="237744" cy="237744"/>
          </a:xfrm>
          <a:prstGeom prst="rect">
            <a:avLst/>
          </a:prstGeom>
        </p:spPr>
      </p:pic>
      <p:sp>
        <p:nvSpPr>
          <p:cNvPr id="19" name="Text 11"/>
          <p:cNvSpPr txBox="1"/>
          <p:nvPr/>
        </p:nvSpPr>
        <p:spPr>
          <a:xfrm>
            <a:off x="6858000" y="2788920"/>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Fixed operations; each returns only the fields it needs</a:t>
            </a:r>
            <a:endParaRPr lang="en-US" sz="1350" dirty="0"/>
          </a:p>
        </p:txBody>
      </p:sp>
      <p:pic>
        <p:nvPicPr>
          <p:cNvPr id="20" name="Image 6" descr="preencoded.png"/>
          <p:cNvPicPr>
            <a:picLocks noChangeAspect="1"/>
          </p:cNvPicPr>
          <p:nvPr/>
        </p:nvPicPr>
        <p:blipFill>
          <a:blip r:embed="rId4"/>
          <a:stretch>
            <a:fillRect/>
          </a:stretch>
        </p:blipFill>
        <p:spPr>
          <a:xfrm>
            <a:off x="6492240" y="4434840"/>
            <a:ext cx="237744" cy="237744"/>
          </a:xfrm>
          <a:prstGeom prst="rect">
            <a:avLst/>
          </a:prstGeom>
        </p:spPr>
      </p:pic>
      <p:sp>
        <p:nvSpPr>
          <p:cNvPr id="21" name="Text 12"/>
          <p:cNvSpPr txBox="1"/>
          <p:nvPr/>
        </p:nvSpPr>
        <p:spPr>
          <a:xfrm>
            <a:off x="6858000" y="4379976"/>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Every call is a named, loggable, auditable action</a:t>
            </a:r>
            <a:endParaRPr lang="en-US" sz="1350" dirty="0"/>
          </a:p>
        </p:txBody>
      </p:sp>
      <p:pic>
        <p:nvPicPr>
          <p:cNvPr id="22" name="Image 7" descr="preencoded.png"/>
          <p:cNvPicPr>
            <a:picLocks noChangeAspect="1"/>
          </p:cNvPicPr>
          <p:nvPr/>
        </p:nvPicPr>
        <p:blipFill>
          <a:blip r:embed="rId4"/>
          <a:stretch>
            <a:fillRect/>
          </a:stretch>
        </p:blipFill>
        <p:spPr>
          <a:xfrm>
            <a:off x="6492240" y="3374136"/>
            <a:ext cx="237744" cy="237744"/>
          </a:xfrm>
          <a:prstGeom prst="rect">
            <a:avLst/>
          </a:prstGeom>
        </p:spPr>
      </p:pic>
      <p:sp>
        <p:nvSpPr>
          <p:cNvPr id="23" name="Text 13"/>
          <p:cNvSpPr txBox="1"/>
          <p:nvPr/>
        </p:nvSpPr>
        <p:spPr>
          <a:xfrm>
            <a:off x="6858000" y="3319272"/>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personId comes from trusted config, not from the model</a:t>
            </a:r>
            <a:endParaRPr lang="en-US" sz="1350" dirty="0"/>
          </a:p>
        </p:txBody>
      </p:sp>
      <p:pic>
        <p:nvPicPr>
          <p:cNvPr id="24" name="Image 8" descr="preencoded.png"/>
          <p:cNvPicPr>
            <a:picLocks noChangeAspect="1"/>
          </p:cNvPicPr>
          <p:nvPr/>
        </p:nvPicPr>
        <p:blipFill>
          <a:blip r:embed="rId4"/>
          <a:stretch>
            <a:fillRect/>
          </a:stretch>
        </p:blipFill>
        <p:spPr>
          <a:xfrm>
            <a:off x="6492240" y="3904488"/>
            <a:ext cx="237744" cy="237744"/>
          </a:xfrm>
          <a:prstGeom prst="rect">
            <a:avLst/>
          </a:prstGeom>
        </p:spPr>
      </p:pic>
      <p:sp>
        <p:nvSpPr>
          <p:cNvPr id="25" name="Text 14"/>
          <p:cNvSpPr txBox="1"/>
          <p:nvPr/>
        </p:nvSpPr>
        <p:spPr>
          <a:xfrm>
            <a:off x="6858000" y="3849624"/>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The service validates, authorizes and enforces limits</a:t>
            </a:r>
            <a:endParaRPr lang="en-US" sz="1350" dirty="0"/>
          </a:p>
        </p:txBody>
      </p:sp>
      <p:pic>
        <p:nvPicPr>
          <p:cNvPr id="26" name="Image 9" descr="preencoded.png"/>
          <p:cNvPicPr>
            <a:picLocks noChangeAspect="1"/>
          </p:cNvPicPr>
          <p:nvPr/>
        </p:nvPicPr>
        <p:blipFill>
          <a:blip r:embed="rId4"/>
          <a:stretch>
            <a:fillRect/>
          </a:stretch>
        </p:blipFill>
        <p:spPr>
          <a:xfrm>
            <a:off x="6492240" y="4965192"/>
            <a:ext cx="237744" cy="237744"/>
          </a:xfrm>
          <a:prstGeom prst="rect">
            <a:avLst/>
          </a:prstGeom>
        </p:spPr>
      </p:pic>
      <p:sp>
        <p:nvSpPr>
          <p:cNvPr id="27" name="Text 15"/>
          <p:cNvSpPr txBox="1"/>
          <p:nvPr/>
        </p:nvSpPr>
        <p:spPr>
          <a:xfrm>
            <a:off x="6858000" y="4910328"/>
            <a:ext cx="4572000" cy="365760"/>
          </a:xfrm>
          <a:prstGeom prst="rect">
            <a:avLst/>
          </a:prstGeom>
          <a:noFill/>
          <a:ln/>
        </p:spPr>
        <p:txBody>
          <a:bodyPr wrap="square" lIns="0" tIns="0" rIns="0" bIns="0" rtlCol="0" anchor="ctr"/>
          <a:lstStyle/>
          <a:p>
            <a:pPr marL="0" indent="0">
              <a:buNone/>
            </a:pPr>
            <a:r>
              <a:rPr lang="en-US" sz="1350" dirty="0">
                <a:solidFill>
                  <a:srgbClr val="E6EAF5"/>
                </a:solidFill>
                <a:latin typeface="Calibri" pitchFamily="34" charset="0"/>
                <a:ea typeface="Calibri" pitchFamily="34" charset="-122"/>
                <a:cs typeface="Calibri" pitchFamily="34" charset="-120"/>
              </a:rPr>
              <a:t>Writes are idempotent and confirmed by the user</a:t>
            </a:r>
            <a:endParaRPr lang="en-US" sz="1350" dirty="0"/>
          </a:p>
        </p:txBody>
      </p:sp>
      <p:sp>
        <p:nvSpPr>
          <p:cNvPr id="28" name="Shape 16"/>
          <p:cNvSpPr/>
          <p:nvPr/>
        </p:nvSpPr>
        <p:spPr>
          <a:xfrm>
            <a:off x="548640" y="5760720"/>
            <a:ext cx="11091672" cy="731520"/>
          </a:xfrm>
          <a:prstGeom prst="roundRect">
            <a:avLst>
              <a:gd name="adj" fmla="val 15000"/>
            </a:avLst>
          </a:prstGeom>
          <a:solidFill>
            <a:srgbClr val="13245E"/>
          </a:solidFill>
          <a:ln w="12700">
            <a:solidFill>
              <a:srgbClr val="13245E"/>
            </a:solidFill>
            <a:prstDash val="solid"/>
          </a:ln>
        </p:spPr>
        <p:txBody>
          <a:bodyPr/>
          <a:lstStyle/>
          <a:p>
            <a:endParaRPr lang="en-MY"/>
          </a:p>
        </p:txBody>
      </p:sp>
      <p:sp>
        <p:nvSpPr>
          <p:cNvPr id="29" name="Text 17"/>
          <p:cNvSpPr txBox="1"/>
          <p:nvPr/>
        </p:nvSpPr>
        <p:spPr>
          <a:xfrm>
            <a:off x="822960" y="5760720"/>
            <a:ext cx="10607040" cy="731520"/>
          </a:xfrm>
          <a:prstGeom prst="rect">
            <a:avLst/>
          </a:prstGeom>
          <a:noFill/>
          <a:ln/>
        </p:spPr>
        <p:txBody>
          <a:bodyPr wrap="square" lIns="0" tIns="0" rIns="0" bIns="0"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Result: </a:t>
            </a:r>
            <a:r>
              <a:rPr lang="en-US" sz="1400" dirty="0">
                <a:solidFill>
                  <a:srgbClr val="FFFFFF"/>
                </a:solidFill>
                <a:latin typeface="Calibri" pitchFamily="34" charset="0"/>
                <a:ea typeface="Calibri" pitchFamily="34" charset="-122"/>
                <a:cs typeface="Calibri" pitchFamily="34" charset="-120"/>
              </a:rPr>
              <a:t>the model can only see what an API deliberately returns. Confidential records outside those APIs never reach it, so they cannot leak through a prompt.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0E1630"/>
                </a:solidFill>
                <a:latin typeface="Calibri" pitchFamily="34" charset="0"/>
                <a:ea typeface="Calibri" pitchFamily="34" charset="-122"/>
                <a:cs typeface="Calibri" pitchFamily="34" charset="-120"/>
              </a:rPr>
              <a:t>Ask questions about your own documents</a:t>
            </a:r>
            <a:endParaRPr lang="en-US" sz="34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marL="0" indent="0">
              <a:buNone/>
            </a:pPr>
            <a:r>
              <a:rPr lang="en-US" sz="1600" dirty="0">
                <a:solidFill>
                  <a:srgbClr val="5B6478"/>
                </a:solidFill>
                <a:latin typeface="Calibri" pitchFamily="34" charset="0"/>
                <a:ea typeface="Calibri" pitchFamily="34" charset="-122"/>
                <a:cs typeface="Calibri" pitchFamily="34" charset="-120"/>
              </a:rPr>
              <a:t>Attach a file and the agent reads it, summarises it and answers follow-up questions</a:t>
            </a:r>
            <a:endParaRPr lang="en-US" sz="1600" dirty="0"/>
          </a:p>
        </p:txBody>
      </p:sp>
      <p:sp>
        <p:nvSpPr>
          <p:cNvPr id="4" name="Shape 2"/>
          <p:cNvSpPr/>
          <p:nvPr/>
        </p:nvSpPr>
        <p:spPr>
          <a:xfrm>
            <a:off x="907430" y="1645920"/>
            <a:ext cx="5866099" cy="4846320"/>
          </a:xfrm>
          <a:prstGeom prst="roundRect">
            <a:avLst>
              <a:gd name="adj" fmla="val 2264"/>
            </a:avLst>
          </a:prstGeom>
          <a:solidFill>
            <a:srgbClr val="FFFFFF"/>
          </a:solidFill>
          <a:ln w="9525">
            <a:solidFill>
              <a:srgbClr val="E3E7F0"/>
            </a:solidFill>
            <a:prstDash val="solid"/>
          </a:ln>
          <a:effectLst>
            <a:outerShdw blurRad="152400" dist="38100" dir="5400000" algn="bl" rotWithShape="0">
              <a:srgbClr val="000000">
                <a:alpha val="18000"/>
              </a:srgbClr>
            </a:outerShdw>
          </a:effectLst>
        </p:spPr>
        <p:txBody>
          <a:bodyPr/>
          <a:lstStyle/>
          <a:p>
            <a:endParaRPr lang="en-MY"/>
          </a:p>
        </p:txBody>
      </p:sp>
      <p:pic>
        <p:nvPicPr>
          <p:cNvPr id="5" name="Image 0" descr="C:\Users\HP\AppData\Local\Temp\claude\C--Projects-tunoo-crm-management\72c328e9-b7b3-480f-b6b2-1d6a61924830\scratchpad\deck\crops\files.png"/>
          <p:cNvPicPr>
            <a:picLocks noChangeAspect="1"/>
          </p:cNvPicPr>
          <p:nvPr/>
        </p:nvPicPr>
        <p:blipFill>
          <a:blip r:embed="rId3"/>
          <a:stretch>
            <a:fillRect/>
          </a:stretch>
        </p:blipFill>
        <p:spPr>
          <a:xfrm>
            <a:off x="980582" y="1719072"/>
            <a:ext cx="5719795" cy="4700016"/>
          </a:xfrm>
          <a:prstGeom prst="rect">
            <a:avLst/>
          </a:prstGeom>
        </p:spPr>
      </p:pic>
      <p:sp>
        <p:nvSpPr>
          <p:cNvPr id="6" name="Shape 3"/>
          <p:cNvSpPr/>
          <p:nvPr/>
        </p:nvSpPr>
        <p:spPr>
          <a:xfrm>
            <a:off x="7498080" y="1645920"/>
            <a:ext cx="4251960" cy="4846320"/>
          </a:xfrm>
          <a:prstGeom prst="roundRect">
            <a:avLst>
              <a:gd name="adj" fmla="val 3011"/>
            </a:avLst>
          </a:prstGeom>
          <a:solidFill>
            <a:srgbClr val="FFFFFF"/>
          </a:solidFill>
          <a:ln w="9525">
            <a:solidFill>
              <a:srgbClr val="E3E7F0"/>
            </a:solidFill>
            <a:prstDash val="solid"/>
          </a:ln>
        </p:spPr>
        <p:txBody>
          <a:bodyPr/>
          <a:lstStyle/>
          <a:p>
            <a:endParaRPr lang="en-MY"/>
          </a:p>
        </p:txBody>
      </p:sp>
      <p:sp>
        <p:nvSpPr>
          <p:cNvPr id="7" name="Shape 4"/>
          <p:cNvSpPr/>
          <p:nvPr/>
        </p:nvSpPr>
        <p:spPr>
          <a:xfrm>
            <a:off x="7772400" y="1920240"/>
            <a:ext cx="566928" cy="566928"/>
          </a:xfrm>
          <a:prstGeom prst="ellipse">
            <a:avLst/>
          </a:prstGeom>
          <a:solidFill>
            <a:srgbClr val="0B5FFF"/>
          </a:solidFill>
          <a:ln w="12700">
            <a:solidFill>
              <a:srgbClr val="0B5FFF"/>
            </a:solidFill>
            <a:prstDash val="solid"/>
          </a:ln>
        </p:spPr>
        <p:txBody>
          <a:bodyPr/>
          <a:lstStyle/>
          <a:p>
            <a:endParaRPr lang="en-MY"/>
          </a:p>
        </p:txBody>
      </p:sp>
      <p:pic>
        <p:nvPicPr>
          <p:cNvPr id="8" name="Image 1" descr="preencoded.png"/>
          <p:cNvPicPr>
            <a:picLocks noChangeAspect="1"/>
          </p:cNvPicPr>
          <p:nvPr/>
        </p:nvPicPr>
        <p:blipFill>
          <a:blip r:embed="rId4"/>
          <a:stretch>
            <a:fillRect/>
          </a:stretch>
        </p:blipFill>
        <p:spPr>
          <a:xfrm>
            <a:off x="7919801" y="2067641"/>
            <a:ext cx="272125" cy="272125"/>
          </a:xfrm>
          <a:prstGeom prst="rect">
            <a:avLst/>
          </a:prstGeom>
        </p:spPr>
      </p:pic>
      <p:sp>
        <p:nvSpPr>
          <p:cNvPr id="9" name="Text 5"/>
          <p:cNvSpPr txBox="1"/>
          <p:nvPr/>
        </p:nvSpPr>
        <p:spPr>
          <a:xfrm>
            <a:off x="8503920" y="1920240"/>
            <a:ext cx="3108960" cy="566928"/>
          </a:xfrm>
          <a:prstGeom prst="rect">
            <a:avLst/>
          </a:prstGeom>
          <a:noFill/>
          <a:ln/>
        </p:spPr>
        <p:txBody>
          <a:bodyPr wrap="square" lIns="0" tIns="0" rIns="0" bIns="0" rtlCol="0" anchor="ctr"/>
          <a:lstStyle/>
          <a:p>
            <a:pPr marL="0" indent="0">
              <a:buNone/>
            </a:pPr>
            <a:r>
              <a:rPr lang="en-US" sz="1700" b="1" dirty="0">
                <a:solidFill>
                  <a:srgbClr val="0E1630"/>
                </a:solidFill>
                <a:latin typeface="Calibri" pitchFamily="34" charset="0"/>
                <a:ea typeface="Calibri" pitchFamily="34" charset="-122"/>
                <a:cs typeface="Calibri" pitchFamily="34" charset="-120"/>
              </a:rPr>
              <a:t>Supported formats</a:t>
            </a:r>
            <a:endParaRPr lang="en-US" sz="1700" dirty="0"/>
          </a:p>
        </p:txBody>
      </p:sp>
      <p:sp>
        <p:nvSpPr>
          <p:cNvPr id="10" name="Shape 6"/>
          <p:cNvSpPr/>
          <p:nvPr/>
        </p:nvSpPr>
        <p:spPr>
          <a:xfrm>
            <a:off x="7772400" y="274320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11" name="Text 7"/>
          <p:cNvSpPr txBox="1"/>
          <p:nvPr/>
        </p:nvSpPr>
        <p:spPr>
          <a:xfrm>
            <a:off x="7772400" y="274320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PDF</a:t>
            </a:r>
            <a:endParaRPr lang="en-US" sz="1200" dirty="0"/>
          </a:p>
        </p:txBody>
      </p:sp>
      <p:sp>
        <p:nvSpPr>
          <p:cNvPr id="12" name="Shape 8"/>
          <p:cNvSpPr/>
          <p:nvPr/>
        </p:nvSpPr>
        <p:spPr>
          <a:xfrm>
            <a:off x="9692640" y="274320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13" name="Text 9"/>
          <p:cNvSpPr txBox="1"/>
          <p:nvPr/>
        </p:nvSpPr>
        <p:spPr>
          <a:xfrm>
            <a:off x="9692640" y="274320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DOCX</a:t>
            </a:r>
            <a:endParaRPr lang="en-US" sz="1200" dirty="0"/>
          </a:p>
        </p:txBody>
      </p:sp>
      <p:sp>
        <p:nvSpPr>
          <p:cNvPr id="14" name="Shape 10"/>
          <p:cNvSpPr/>
          <p:nvPr/>
        </p:nvSpPr>
        <p:spPr>
          <a:xfrm>
            <a:off x="7772400" y="324612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15" name="Text 11"/>
          <p:cNvSpPr txBox="1"/>
          <p:nvPr/>
        </p:nvSpPr>
        <p:spPr>
          <a:xfrm>
            <a:off x="7772400" y="324612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XLSX</a:t>
            </a:r>
            <a:endParaRPr lang="en-US" sz="1200" dirty="0"/>
          </a:p>
        </p:txBody>
      </p:sp>
      <p:sp>
        <p:nvSpPr>
          <p:cNvPr id="16" name="Shape 12"/>
          <p:cNvSpPr/>
          <p:nvPr/>
        </p:nvSpPr>
        <p:spPr>
          <a:xfrm>
            <a:off x="9692640" y="324612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17" name="Text 13"/>
          <p:cNvSpPr txBox="1"/>
          <p:nvPr/>
        </p:nvSpPr>
        <p:spPr>
          <a:xfrm>
            <a:off x="9692640" y="324612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PPTX</a:t>
            </a:r>
            <a:endParaRPr lang="en-US" sz="1200" dirty="0"/>
          </a:p>
        </p:txBody>
      </p:sp>
      <p:sp>
        <p:nvSpPr>
          <p:cNvPr id="18" name="Shape 14"/>
          <p:cNvSpPr/>
          <p:nvPr/>
        </p:nvSpPr>
        <p:spPr>
          <a:xfrm>
            <a:off x="7772400" y="374904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19" name="Text 15"/>
          <p:cNvSpPr txBox="1"/>
          <p:nvPr/>
        </p:nvSpPr>
        <p:spPr>
          <a:xfrm>
            <a:off x="7772400" y="374904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CSV</a:t>
            </a:r>
            <a:endParaRPr lang="en-US" sz="1200" dirty="0"/>
          </a:p>
        </p:txBody>
      </p:sp>
      <p:sp>
        <p:nvSpPr>
          <p:cNvPr id="20" name="Shape 16"/>
          <p:cNvSpPr/>
          <p:nvPr/>
        </p:nvSpPr>
        <p:spPr>
          <a:xfrm>
            <a:off x="9692640" y="374904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21" name="Text 17"/>
          <p:cNvSpPr txBox="1"/>
          <p:nvPr/>
        </p:nvSpPr>
        <p:spPr>
          <a:xfrm>
            <a:off x="9692640" y="374904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TXT / MD</a:t>
            </a:r>
            <a:endParaRPr lang="en-US" sz="1200" dirty="0"/>
          </a:p>
        </p:txBody>
      </p:sp>
      <p:sp>
        <p:nvSpPr>
          <p:cNvPr id="22" name="Shape 18"/>
          <p:cNvSpPr/>
          <p:nvPr/>
        </p:nvSpPr>
        <p:spPr>
          <a:xfrm>
            <a:off x="7772400" y="4251960"/>
            <a:ext cx="1783080" cy="347472"/>
          </a:xfrm>
          <a:prstGeom prst="roundRect">
            <a:avLst>
              <a:gd name="adj" fmla="val 50000"/>
            </a:avLst>
          </a:prstGeom>
          <a:solidFill>
            <a:srgbClr val="DCE8FF"/>
          </a:solidFill>
          <a:ln w="12700">
            <a:solidFill>
              <a:srgbClr val="DCE8FF"/>
            </a:solidFill>
            <a:prstDash val="solid"/>
          </a:ln>
        </p:spPr>
        <p:txBody>
          <a:bodyPr/>
          <a:lstStyle/>
          <a:p>
            <a:endParaRPr lang="en-MY"/>
          </a:p>
        </p:txBody>
      </p:sp>
      <p:sp>
        <p:nvSpPr>
          <p:cNvPr id="23" name="Text 19"/>
          <p:cNvSpPr txBox="1"/>
          <p:nvPr/>
        </p:nvSpPr>
        <p:spPr>
          <a:xfrm>
            <a:off x="7772400" y="4251960"/>
            <a:ext cx="1783080" cy="347472"/>
          </a:xfrm>
          <a:prstGeom prst="rect">
            <a:avLst/>
          </a:prstGeom>
          <a:noFill/>
          <a:ln/>
        </p:spPr>
        <p:txBody>
          <a:bodyPr wrap="square" lIns="0" tIns="0" rIns="0" bIns="0" rtlCol="0" anchor="ctr"/>
          <a:lstStyle/>
          <a:p>
            <a:pPr marL="0" indent="0" algn="ctr">
              <a:buNone/>
            </a:pPr>
            <a:r>
              <a:rPr lang="en-US" sz="1200" b="1" dirty="0">
                <a:solidFill>
                  <a:srgbClr val="0B5FFF"/>
                </a:solidFill>
                <a:latin typeface="Calibri" pitchFamily="34" charset="0"/>
                <a:ea typeface="Calibri" pitchFamily="34" charset="-122"/>
                <a:cs typeface="Calibri" pitchFamily="34" charset="-120"/>
              </a:rPr>
              <a:t>PNG / JPG (OCR)</a:t>
            </a:r>
            <a:endParaRPr lang="en-US" sz="1200" dirty="0"/>
          </a:p>
        </p:txBody>
      </p:sp>
      <p:sp>
        <p:nvSpPr>
          <p:cNvPr id="24" name="Text 20"/>
          <p:cNvSpPr txBox="1"/>
          <p:nvPr/>
        </p:nvSpPr>
        <p:spPr>
          <a:xfrm>
            <a:off x="7772400" y="4892040"/>
            <a:ext cx="3749040" cy="1371600"/>
          </a:xfrm>
          <a:prstGeom prst="rect">
            <a:avLst/>
          </a:prstGeom>
          <a:noFill/>
          <a:ln/>
        </p:spPr>
        <p:txBody>
          <a:bodyPr wrap="square" lIns="0" tIns="0" rIns="0" bIns="0" rtlCol="0" anchor="t"/>
          <a:lstStyle/>
          <a:p>
            <a:pPr marL="0" indent="0">
              <a:buNone/>
            </a:pPr>
            <a:r>
              <a:rPr lang="en-US" sz="1300" dirty="0">
                <a:solidFill>
                  <a:srgbClr val="5B6478"/>
                </a:solidFill>
                <a:latin typeface="Calibri" pitchFamily="34" charset="0"/>
                <a:ea typeface="Calibri" pitchFamily="34" charset="-122"/>
                <a:cs typeface="Calibri" pitchFamily="34" charset="-120"/>
              </a:rPr>
              <a:t>Text is extracted (scanned PDFs are OCR'd) and added to the conversation, so every later question can use it. Up to 10 MB per file.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630"/>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BEMS Agent in numbers</a:t>
            </a:r>
            <a:endParaRPr lang="en-US" sz="3400" dirty="0"/>
          </a:p>
        </p:txBody>
      </p:sp>
      <p:sp>
        <p:nvSpPr>
          <p:cNvPr id="3" name="Shape 1"/>
          <p:cNvSpPr/>
          <p:nvPr/>
        </p:nvSpPr>
        <p:spPr>
          <a:xfrm>
            <a:off x="548640" y="1463040"/>
            <a:ext cx="2606040" cy="2194560"/>
          </a:xfrm>
          <a:prstGeom prst="roundRect">
            <a:avLst>
              <a:gd name="adj" fmla="val 5833"/>
            </a:avLst>
          </a:prstGeom>
          <a:solidFill>
            <a:srgbClr val="1A2550"/>
          </a:solidFill>
          <a:ln w="12700">
            <a:solidFill>
              <a:srgbClr val="1A2550"/>
            </a:solidFill>
            <a:prstDash val="solid"/>
          </a:ln>
        </p:spPr>
        <p:txBody>
          <a:bodyPr/>
          <a:lstStyle/>
          <a:p>
            <a:endParaRPr lang="en-MY"/>
          </a:p>
        </p:txBody>
      </p:sp>
      <p:sp>
        <p:nvSpPr>
          <p:cNvPr id="4" name="Text 2"/>
          <p:cNvSpPr txBox="1"/>
          <p:nvPr/>
        </p:nvSpPr>
        <p:spPr>
          <a:xfrm>
            <a:off x="548640" y="1600200"/>
            <a:ext cx="2606040" cy="1097280"/>
          </a:xfrm>
          <a:prstGeom prst="rect">
            <a:avLst/>
          </a:prstGeom>
          <a:noFill/>
          <a:ln/>
        </p:spPr>
        <p:txBody>
          <a:bodyPr wrap="square" lIns="0" tIns="0" rIns="0" bIns="0" rtlCol="0" anchor="ctr"/>
          <a:lstStyle/>
          <a:p>
            <a:pPr marL="0" indent="0" algn="ctr">
              <a:buNone/>
            </a:pPr>
            <a:r>
              <a:rPr lang="en-US" sz="6400" b="1" dirty="0">
                <a:solidFill>
                  <a:srgbClr val="F59E0B"/>
                </a:solidFill>
                <a:latin typeface="Calibri" pitchFamily="34" charset="0"/>
                <a:ea typeface="Calibri" pitchFamily="34" charset="-122"/>
                <a:cs typeface="Calibri" pitchFamily="34" charset="-120"/>
              </a:rPr>
              <a:t>6</a:t>
            </a:r>
            <a:endParaRPr lang="en-US" sz="6400" dirty="0"/>
          </a:p>
        </p:txBody>
      </p:sp>
      <p:sp>
        <p:nvSpPr>
          <p:cNvPr id="5" name="Text 3"/>
          <p:cNvSpPr txBox="1"/>
          <p:nvPr/>
        </p:nvSpPr>
        <p:spPr>
          <a:xfrm>
            <a:off x="731520" y="2697480"/>
            <a:ext cx="2240280" cy="822960"/>
          </a:xfrm>
          <a:prstGeom prst="rect">
            <a:avLst/>
          </a:prstGeom>
          <a:noFill/>
          <a:ln/>
        </p:spPr>
        <p:txBody>
          <a:bodyPr wrap="square" lIns="0" tIns="0" rIns="0" bIns="0" rtlCol="0" anchor="ctr"/>
          <a:lstStyle/>
          <a:p>
            <a:pPr marL="0" indent="0" algn="ctr">
              <a:buNone/>
            </a:pPr>
            <a:r>
              <a:rPr lang="en-US" sz="1400" dirty="0">
                <a:solidFill>
                  <a:srgbClr val="D5DCF0"/>
                </a:solidFill>
                <a:latin typeface="Calibri" pitchFamily="34" charset="0"/>
                <a:ea typeface="Calibri" pitchFamily="34" charset="-122"/>
                <a:cs typeface="Calibri" pitchFamily="34" charset="-120"/>
              </a:rPr>
              <a:t>tools behind one chat</a:t>
            </a:r>
            <a:endParaRPr lang="en-US" sz="1400" dirty="0"/>
          </a:p>
        </p:txBody>
      </p:sp>
      <p:sp>
        <p:nvSpPr>
          <p:cNvPr id="6" name="Shape 4"/>
          <p:cNvSpPr/>
          <p:nvPr/>
        </p:nvSpPr>
        <p:spPr>
          <a:xfrm>
            <a:off x="3383280" y="1463040"/>
            <a:ext cx="2606040" cy="2194560"/>
          </a:xfrm>
          <a:prstGeom prst="roundRect">
            <a:avLst>
              <a:gd name="adj" fmla="val 5833"/>
            </a:avLst>
          </a:prstGeom>
          <a:solidFill>
            <a:srgbClr val="1A2550"/>
          </a:solidFill>
          <a:ln w="12700">
            <a:solidFill>
              <a:srgbClr val="1A2550"/>
            </a:solidFill>
            <a:prstDash val="solid"/>
          </a:ln>
        </p:spPr>
        <p:txBody>
          <a:bodyPr/>
          <a:lstStyle/>
          <a:p>
            <a:endParaRPr lang="en-MY"/>
          </a:p>
        </p:txBody>
      </p:sp>
      <p:sp>
        <p:nvSpPr>
          <p:cNvPr id="7" name="Text 5"/>
          <p:cNvSpPr txBox="1"/>
          <p:nvPr/>
        </p:nvSpPr>
        <p:spPr>
          <a:xfrm>
            <a:off x="3383280" y="1600200"/>
            <a:ext cx="2606040" cy="1097280"/>
          </a:xfrm>
          <a:prstGeom prst="rect">
            <a:avLst/>
          </a:prstGeom>
          <a:noFill/>
          <a:ln/>
        </p:spPr>
        <p:txBody>
          <a:bodyPr wrap="square" lIns="0" tIns="0" rIns="0" bIns="0" rtlCol="0" anchor="ctr"/>
          <a:lstStyle/>
          <a:p>
            <a:pPr marL="0" indent="0" algn="ctr">
              <a:buNone/>
            </a:pPr>
            <a:r>
              <a:rPr lang="en-US" sz="6400" b="1" dirty="0">
                <a:solidFill>
                  <a:srgbClr val="F59E0B"/>
                </a:solidFill>
                <a:latin typeface="Calibri" pitchFamily="34" charset="0"/>
                <a:ea typeface="Calibri" pitchFamily="34" charset="-122"/>
                <a:cs typeface="Calibri" pitchFamily="34" charset="-120"/>
              </a:rPr>
              <a:t>4</a:t>
            </a:r>
            <a:endParaRPr lang="en-US" sz="6400" dirty="0"/>
          </a:p>
        </p:txBody>
      </p:sp>
      <p:sp>
        <p:nvSpPr>
          <p:cNvPr id="8" name="Text 6"/>
          <p:cNvSpPr txBox="1"/>
          <p:nvPr/>
        </p:nvSpPr>
        <p:spPr>
          <a:xfrm>
            <a:off x="3566160" y="2697480"/>
            <a:ext cx="2240280" cy="822960"/>
          </a:xfrm>
          <a:prstGeom prst="rect">
            <a:avLst/>
          </a:prstGeom>
          <a:noFill/>
          <a:ln/>
        </p:spPr>
        <p:txBody>
          <a:bodyPr wrap="square" lIns="0" tIns="0" rIns="0" bIns="0" rtlCol="0" anchor="ctr"/>
          <a:lstStyle/>
          <a:p>
            <a:pPr marL="0" indent="0" algn="ctr">
              <a:buNone/>
            </a:pPr>
            <a:r>
              <a:rPr lang="en-US" sz="1400" dirty="0">
                <a:solidFill>
                  <a:srgbClr val="D5DCF0"/>
                </a:solidFill>
                <a:latin typeface="Calibri" pitchFamily="34" charset="0"/>
                <a:ea typeface="Calibri" pitchFamily="34" charset="-122"/>
                <a:cs typeface="Calibri" pitchFamily="34" charset="-120"/>
              </a:rPr>
              <a:t>entry forms: expense, income, budget, asset</a:t>
            </a:r>
            <a:endParaRPr lang="en-US" sz="1400" dirty="0"/>
          </a:p>
        </p:txBody>
      </p:sp>
      <p:sp>
        <p:nvSpPr>
          <p:cNvPr id="9" name="Shape 7"/>
          <p:cNvSpPr/>
          <p:nvPr/>
        </p:nvSpPr>
        <p:spPr>
          <a:xfrm>
            <a:off x="6217920" y="1463040"/>
            <a:ext cx="2606040" cy="2194560"/>
          </a:xfrm>
          <a:prstGeom prst="roundRect">
            <a:avLst>
              <a:gd name="adj" fmla="val 5833"/>
            </a:avLst>
          </a:prstGeom>
          <a:solidFill>
            <a:srgbClr val="1A2550"/>
          </a:solidFill>
          <a:ln w="12700">
            <a:solidFill>
              <a:srgbClr val="1A2550"/>
            </a:solidFill>
            <a:prstDash val="solid"/>
          </a:ln>
        </p:spPr>
        <p:txBody>
          <a:bodyPr/>
          <a:lstStyle/>
          <a:p>
            <a:endParaRPr lang="en-MY"/>
          </a:p>
        </p:txBody>
      </p:sp>
      <p:sp>
        <p:nvSpPr>
          <p:cNvPr id="10" name="Text 8"/>
          <p:cNvSpPr txBox="1"/>
          <p:nvPr/>
        </p:nvSpPr>
        <p:spPr>
          <a:xfrm>
            <a:off x="6217920" y="1600200"/>
            <a:ext cx="2606040" cy="1097280"/>
          </a:xfrm>
          <a:prstGeom prst="rect">
            <a:avLst/>
          </a:prstGeom>
          <a:noFill/>
          <a:ln/>
        </p:spPr>
        <p:txBody>
          <a:bodyPr wrap="square" lIns="0" tIns="0" rIns="0" bIns="0" rtlCol="0" anchor="ctr"/>
          <a:lstStyle/>
          <a:p>
            <a:pPr marL="0" indent="0" algn="ctr">
              <a:buNone/>
            </a:pPr>
            <a:r>
              <a:rPr lang="en-US" sz="6400" b="1" dirty="0">
                <a:solidFill>
                  <a:srgbClr val="F59E0B"/>
                </a:solidFill>
                <a:latin typeface="Calibri" pitchFamily="34" charset="0"/>
                <a:ea typeface="Calibri" pitchFamily="34" charset="-122"/>
                <a:cs typeface="Calibri" pitchFamily="34" charset="-120"/>
              </a:rPr>
              <a:t>5</a:t>
            </a:r>
            <a:endParaRPr lang="en-US" sz="6400" dirty="0"/>
          </a:p>
        </p:txBody>
      </p:sp>
      <p:sp>
        <p:nvSpPr>
          <p:cNvPr id="11" name="Text 9"/>
          <p:cNvSpPr txBox="1"/>
          <p:nvPr/>
        </p:nvSpPr>
        <p:spPr>
          <a:xfrm>
            <a:off x="6400800" y="2697480"/>
            <a:ext cx="2240280" cy="822960"/>
          </a:xfrm>
          <a:prstGeom prst="rect">
            <a:avLst/>
          </a:prstGeom>
          <a:noFill/>
          <a:ln/>
        </p:spPr>
        <p:txBody>
          <a:bodyPr wrap="square" lIns="0" tIns="0" rIns="0" bIns="0" rtlCol="0" anchor="ctr"/>
          <a:lstStyle/>
          <a:p>
            <a:pPr marL="0" indent="0" algn="ctr">
              <a:buNone/>
            </a:pPr>
            <a:r>
              <a:rPr lang="en-US" sz="1400" dirty="0">
                <a:solidFill>
                  <a:srgbClr val="D5DCF0"/>
                </a:solidFill>
                <a:latin typeface="Calibri" pitchFamily="34" charset="0"/>
                <a:ea typeface="Calibri" pitchFamily="34" charset="-122"/>
                <a:cs typeface="Calibri" pitchFamily="34" charset="-120"/>
              </a:rPr>
              <a:t>interrupt field types, one protocol</a:t>
            </a:r>
            <a:endParaRPr lang="en-US" sz="1400" dirty="0"/>
          </a:p>
        </p:txBody>
      </p:sp>
      <p:sp>
        <p:nvSpPr>
          <p:cNvPr id="12" name="Shape 10"/>
          <p:cNvSpPr/>
          <p:nvPr/>
        </p:nvSpPr>
        <p:spPr>
          <a:xfrm>
            <a:off x="9052560" y="1463040"/>
            <a:ext cx="2606040" cy="2194560"/>
          </a:xfrm>
          <a:prstGeom prst="roundRect">
            <a:avLst>
              <a:gd name="adj" fmla="val 5833"/>
            </a:avLst>
          </a:prstGeom>
          <a:solidFill>
            <a:srgbClr val="1A2550"/>
          </a:solidFill>
          <a:ln w="12700">
            <a:solidFill>
              <a:srgbClr val="1A2550"/>
            </a:solidFill>
            <a:prstDash val="solid"/>
          </a:ln>
        </p:spPr>
        <p:txBody>
          <a:bodyPr/>
          <a:lstStyle/>
          <a:p>
            <a:endParaRPr lang="en-MY"/>
          </a:p>
        </p:txBody>
      </p:sp>
      <p:sp>
        <p:nvSpPr>
          <p:cNvPr id="13" name="Text 11"/>
          <p:cNvSpPr txBox="1"/>
          <p:nvPr/>
        </p:nvSpPr>
        <p:spPr>
          <a:xfrm>
            <a:off x="9052560" y="1600200"/>
            <a:ext cx="2606040" cy="1097280"/>
          </a:xfrm>
          <a:prstGeom prst="rect">
            <a:avLst/>
          </a:prstGeom>
          <a:noFill/>
          <a:ln/>
        </p:spPr>
        <p:txBody>
          <a:bodyPr wrap="square" lIns="0" tIns="0" rIns="0" bIns="0" rtlCol="0" anchor="ctr"/>
          <a:lstStyle/>
          <a:p>
            <a:pPr marL="0" indent="0" algn="ctr">
              <a:buNone/>
            </a:pPr>
            <a:r>
              <a:rPr lang="en-US" sz="6400" b="1" dirty="0">
                <a:solidFill>
                  <a:srgbClr val="14B8A6"/>
                </a:solidFill>
                <a:latin typeface="Calibri" pitchFamily="34" charset="0"/>
                <a:ea typeface="Calibri" pitchFamily="34" charset="-122"/>
                <a:cs typeface="Calibri" pitchFamily="34" charset="-120"/>
              </a:rPr>
              <a:t>0</a:t>
            </a:r>
            <a:endParaRPr lang="en-US" sz="6400" dirty="0"/>
          </a:p>
        </p:txBody>
      </p:sp>
      <p:sp>
        <p:nvSpPr>
          <p:cNvPr id="14" name="Text 12"/>
          <p:cNvSpPr txBox="1"/>
          <p:nvPr/>
        </p:nvSpPr>
        <p:spPr>
          <a:xfrm>
            <a:off x="9235440" y="2697480"/>
            <a:ext cx="2240280" cy="822960"/>
          </a:xfrm>
          <a:prstGeom prst="rect">
            <a:avLst/>
          </a:prstGeom>
          <a:noFill/>
          <a:ln/>
        </p:spPr>
        <p:txBody>
          <a:bodyPr wrap="square" lIns="0" tIns="0" rIns="0" bIns="0" rtlCol="0" anchor="ctr"/>
          <a:lstStyle/>
          <a:p>
            <a:pPr marL="0" indent="0" algn="ctr">
              <a:buNone/>
            </a:pPr>
            <a:r>
              <a:rPr lang="en-US" sz="1400" dirty="0">
                <a:solidFill>
                  <a:srgbClr val="D5DCF0"/>
                </a:solidFill>
                <a:latin typeface="Calibri" pitchFamily="34" charset="0"/>
                <a:ea typeface="Calibri" pitchFamily="34" charset="-122"/>
                <a:cs typeface="Calibri" pitchFamily="34" charset="-120"/>
              </a:rPr>
              <a:t>writes without your Confirm</a:t>
            </a:r>
            <a:endParaRPr lang="en-US" sz="1400" dirty="0"/>
          </a:p>
        </p:txBody>
      </p:sp>
      <p:sp>
        <p:nvSpPr>
          <p:cNvPr id="15" name="Text 13"/>
          <p:cNvSpPr txBox="1"/>
          <p:nvPr/>
        </p:nvSpPr>
        <p:spPr>
          <a:xfrm>
            <a:off x="548640" y="4114800"/>
            <a:ext cx="54864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Next steps</a:t>
            </a:r>
            <a:endParaRPr lang="en-US" sz="2200" dirty="0"/>
          </a:p>
        </p:txBody>
      </p:sp>
      <p:sp>
        <p:nvSpPr>
          <p:cNvPr id="16" name="Text 14"/>
          <p:cNvSpPr txBox="1"/>
          <p:nvPr/>
        </p:nvSpPr>
        <p:spPr>
          <a:xfrm>
            <a:off x="548640" y="4572000"/>
            <a:ext cx="10972800" cy="173736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D5DCF0"/>
                </a:solidFill>
                <a:latin typeface="Calibri" pitchFamily="34" charset="0"/>
                <a:ea typeface="Calibri" pitchFamily="34" charset="-122"/>
                <a:cs typeface="Calibri" pitchFamily="34" charset="-120"/>
              </a:rPr>
              <a:t>Native mobile client rendering the same interrupt protocol</a:t>
            </a:r>
            <a:endParaRPr lang="en-US" sz="1500" dirty="0"/>
          </a:p>
          <a:p>
            <a:pPr marL="342900" indent="-342900">
              <a:spcAft>
                <a:spcPts val="600"/>
              </a:spcAft>
              <a:buSzPct val="100000"/>
              <a:buChar char="•"/>
            </a:pPr>
            <a:r>
              <a:rPr lang="en-US" sz="1500" dirty="0">
                <a:solidFill>
                  <a:srgbClr val="D5DCF0"/>
                </a:solidFill>
                <a:latin typeface="Calibri" pitchFamily="34" charset="0"/>
                <a:ea typeface="Calibri" pitchFamily="34" charset="-122"/>
                <a:cs typeface="Calibri" pitchFamily="34" charset="-120"/>
              </a:rPr>
              <a:t>Multi-user auth and per-tenant person mapping (instead of a fixed person)</a:t>
            </a:r>
            <a:endParaRPr lang="en-US" sz="1500" dirty="0"/>
          </a:p>
          <a:p>
            <a:pPr marL="342900" indent="-342900">
              <a:spcAft>
                <a:spcPts val="600"/>
              </a:spcAft>
              <a:buSzPct val="100000"/>
              <a:buChar char="•"/>
            </a:pPr>
            <a:r>
              <a:rPr lang="en-US" sz="1500" dirty="0">
                <a:solidFill>
                  <a:srgbClr val="D5DCF0"/>
                </a:solidFill>
                <a:latin typeface="Calibri" pitchFamily="34" charset="0"/>
                <a:ea typeface="Calibri" pitchFamily="34" charset="-122"/>
                <a:cs typeface="Calibri" pitchFamily="34" charset="-120"/>
              </a:rPr>
              <a:t>Budget alerts when spending approaches a limit</a:t>
            </a:r>
            <a:endParaRPr lang="en-US" sz="1500" dirty="0"/>
          </a:p>
          <a:p>
            <a:pPr marL="342900" indent="-342900">
              <a:spcAft>
                <a:spcPts val="600"/>
              </a:spcAft>
              <a:buSzPct val="100000"/>
              <a:buChar char="•"/>
            </a:pPr>
            <a:r>
              <a:rPr lang="en-US" sz="1500" dirty="0">
                <a:solidFill>
                  <a:srgbClr val="D5DCF0"/>
                </a:solidFill>
                <a:latin typeface="Calibri" pitchFamily="34" charset="0"/>
                <a:ea typeface="Calibri" pitchFamily="34" charset="-122"/>
                <a:cs typeface="Calibri" pitchFamily="34" charset="-120"/>
              </a:rPr>
              <a:t>Receipt photo → pre-filled expense form (OCR is already in place)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1605</Words>
  <Application>Microsoft Office PowerPoint</Application>
  <PresentationFormat>Widescreen</PresentationFormat>
  <Paragraphs>145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Tunoo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BEMS Agent — capabilities</dc:title>
  <dc:subject>PptxGenJS Presentation</dc:subject>
  <dc:creator>PptxGenJS</dc:creator>
  <cp:lastModifiedBy>behrooz mohamadi</cp:lastModifiedBy>
  <cp:revision>2</cp:revision>
  <dcterms:created xsi:type="dcterms:W3CDTF">2026-09-29T05:30:19Z</dcterms:created>
  <dcterms:modified xsi:type="dcterms:W3CDTF">2026-09-29T05:37:47Z</dcterms:modified>
</cp:coreProperties>
</file>